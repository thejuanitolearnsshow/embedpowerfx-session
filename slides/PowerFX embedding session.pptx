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8" r:id="rId2"/>
    <p:sldId id="272" r:id="rId3"/>
    <p:sldId id="256" r:id="rId4"/>
    <p:sldId id="257" r:id="rId5"/>
    <p:sldId id="271" r:id="rId6"/>
    <p:sldId id="258" r:id="rId7"/>
    <p:sldId id="273" r:id="rId8"/>
    <p:sldId id="267" r:id="rId9"/>
    <p:sldId id="268" r:id="rId10"/>
    <p:sldId id="265" r:id="rId11"/>
    <p:sldId id="274" r:id="rId12"/>
    <p:sldId id="260" r:id="rId13"/>
    <p:sldId id="259" r:id="rId14"/>
    <p:sldId id="261" r:id="rId15"/>
    <p:sldId id="262" r:id="rId16"/>
    <p:sldId id="269" r:id="rId17"/>
    <p:sldId id="263" r:id="rId18"/>
    <p:sldId id="270" r:id="rId19"/>
    <p:sldId id="276" r:id="rId20"/>
    <p:sldId id="264" r:id="rId21"/>
    <p:sldId id="26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122C61-325C-4458-AFCB-0CB4C4D07DCE}" v="8" dt="2026-04-10T21:03:22.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64930" autoAdjust="0"/>
  </p:normalViewPr>
  <p:slideViewPr>
    <p:cSldViewPr snapToGrid="0">
      <p:cViewPr varScale="1">
        <p:scale>
          <a:sx n="54" d="100"/>
          <a:sy n="54" d="100"/>
        </p:scale>
        <p:origin x="898" y="27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85" d="100"/>
          <a:sy n="85" d="100"/>
        </p:scale>
        <p:origin x="311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Pablo Tarquino" userId="619fa53a89ad4d51" providerId="Windows Live" clId="Web-{110A16D8-9303-E760-0BAF-AA0EEC9ECBB2}"/>
    <pc:docChg chg="modSld">
      <pc:chgData name="Juan Pablo Tarquino" userId="619fa53a89ad4d51" providerId="Windows Live" clId="Web-{110A16D8-9303-E760-0BAF-AA0EEC9ECBB2}" dt="2026-03-14T19:29:03.534" v="51"/>
      <pc:docMkLst>
        <pc:docMk/>
      </pc:docMkLst>
      <pc:sldChg chg="modNotes">
        <pc:chgData name="Juan Pablo Tarquino" userId="619fa53a89ad4d51" providerId="Windows Live" clId="Web-{110A16D8-9303-E760-0BAF-AA0EEC9ECBB2}" dt="2026-03-14T19:29:03.534" v="51"/>
        <pc:sldMkLst>
          <pc:docMk/>
          <pc:sldMk cId="3248658166" sldId="269"/>
        </pc:sldMkLst>
      </pc:sldChg>
    </pc:docChg>
  </pc:docChgLst>
  <pc:docChgLst>
    <pc:chgData name="Juan Pablo Tarquino" userId="619fa53a89ad4d51" providerId="Windows Live" clId="Web-{50598D2B-965E-8C84-681F-541CC65C532D}"/>
    <pc:docChg chg="modSld">
      <pc:chgData name="Juan Pablo Tarquino" userId="619fa53a89ad4d51" providerId="Windows Live" clId="Web-{50598D2B-965E-8C84-681F-541CC65C532D}" dt="2026-03-15T01:15:24.930" v="74"/>
      <pc:docMkLst>
        <pc:docMk/>
      </pc:docMkLst>
      <pc:sldChg chg="modNotes">
        <pc:chgData name="Juan Pablo Tarquino" userId="619fa53a89ad4d51" providerId="Windows Live" clId="Web-{50598D2B-965E-8C84-681F-541CC65C532D}" dt="2026-03-15T01:15:24.930" v="74"/>
        <pc:sldMkLst>
          <pc:docMk/>
          <pc:sldMk cId="3248658166" sldId="269"/>
        </pc:sldMkLst>
      </pc:sldChg>
    </pc:docChg>
  </pc:docChgLst>
  <pc:docChgLst>
    <pc:chgData name="Juan Pablo Tarquino" userId="619fa53a89ad4d51" providerId="LiveId" clId="{AC288651-5053-4C44-BEC9-7BED0DF80C9A}"/>
    <pc:docChg chg="undo custSel addSld delSld modSld sldOrd">
      <pc:chgData name="Juan Pablo Tarquino" userId="619fa53a89ad4d51" providerId="LiveId" clId="{AC288651-5053-4C44-BEC9-7BED0DF80C9A}" dt="2026-03-27T12:49:06.780" v="6458" actId="47"/>
      <pc:docMkLst>
        <pc:docMk/>
      </pc:docMkLst>
      <pc:sldChg chg="ord">
        <pc:chgData name="Juan Pablo Tarquino" userId="619fa53a89ad4d51" providerId="LiveId" clId="{AC288651-5053-4C44-BEC9-7BED0DF80C9A}" dt="2026-03-27T11:57:42.668" v="1017"/>
        <pc:sldMkLst>
          <pc:docMk/>
          <pc:sldMk cId="2851320651" sldId="263"/>
        </pc:sldMkLst>
      </pc:sldChg>
      <pc:sldChg chg="modNotesTx">
        <pc:chgData name="Juan Pablo Tarquino" userId="619fa53a89ad4d51" providerId="LiveId" clId="{AC288651-5053-4C44-BEC9-7BED0DF80C9A}" dt="2026-03-27T11:50:10.903" v="2" actId="313"/>
        <pc:sldMkLst>
          <pc:docMk/>
          <pc:sldMk cId="2726405216" sldId="265"/>
        </pc:sldMkLst>
      </pc:sldChg>
      <pc:sldChg chg="modSp mod modNotesTx">
        <pc:chgData name="Juan Pablo Tarquino" userId="619fa53a89ad4d51" providerId="LiveId" clId="{AC288651-5053-4C44-BEC9-7BED0DF80C9A}" dt="2026-03-27T12:05:47.618" v="1724" actId="20577"/>
        <pc:sldMkLst>
          <pc:docMk/>
          <pc:sldMk cId="3248658166" sldId="269"/>
        </pc:sldMkLst>
        <pc:spChg chg="mod">
          <ac:chgData name="Juan Pablo Tarquino" userId="619fa53a89ad4d51" providerId="LiveId" clId="{AC288651-5053-4C44-BEC9-7BED0DF80C9A}" dt="2026-03-27T12:04:13.472" v="1450" actId="313"/>
          <ac:spMkLst>
            <pc:docMk/>
            <pc:sldMk cId="3248658166" sldId="269"/>
            <ac:spMk id="3" creationId="{DFBFC627-69DC-AD8A-E1DA-A63C6D11291E}"/>
          </ac:spMkLst>
        </pc:spChg>
      </pc:sldChg>
      <pc:sldChg chg="addSp delSp modSp mod modNotesTx">
        <pc:chgData name="Juan Pablo Tarquino" userId="619fa53a89ad4d51" providerId="LiveId" clId="{AC288651-5053-4C44-BEC9-7BED0DF80C9A}" dt="2026-03-27T12:48:57.449" v="6457" actId="20577"/>
        <pc:sldMkLst>
          <pc:docMk/>
          <pc:sldMk cId="3174467460" sldId="270"/>
        </pc:sldMkLst>
        <pc:spChg chg="mod">
          <ac:chgData name="Juan Pablo Tarquino" userId="619fa53a89ad4d51" providerId="LiveId" clId="{AC288651-5053-4C44-BEC9-7BED0DF80C9A}" dt="2026-03-27T11:57:38.499" v="1015" actId="20577"/>
          <ac:spMkLst>
            <pc:docMk/>
            <pc:sldMk cId="3174467460" sldId="270"/>
            <ac:spMk id="2" creationId="{6AB8F743-8D02-A013-A215-801142BA4795}"/>
          </ac:spMkLst>
        </pc:spChg>
        <pc:spChg chg="mod">
          <ac:chgData name="Juan Pablo Tarquino" userId="619fa53a89ad4d51" providerId="LiveId" clId="{AC288651-5053-4C44-BEC9-7BED0DF80C9A}" dt="2026-03-27T12:12:33.165" v="2555" actId="20577"/>
          <ac:spMkLst>
            <pc:docMk/>
            <pc:sldMk cId="3174467460" sldId="270"/>
            <ac:spMk id="3" creationId="{4298C200-E2FF-5691-3432-80594D0216C8}"/>
          </ac:spMkLst>
        </pc:spChg>
      </pc:sldChg>
      <pc:sldChg chg="add">
        <pc:chgData name="Juan Pablo Tarquino" userId="619fa53a89ad4d51" providerId="LiveId" clId="{AC288651-5053-4C44-BEC9-7BED0DF80C9A}" dt="2026-03-27T12:33:50.939" v="4099"/>
        <pc:sldMkLst>
          <pc:docMk/>
          <pc:sldMk cId="3943072546" sldId="276"/>
        </pc:sldMkLst>
      </pc:sldChg>
    </pc:docChg>
  </pc:docChgLst>
  <pc:docChgLst>
    <pc:chgData name="Juan Pablo Tarquino" userId="619fa53a89ad4d51" providerId="LiveId" clId="{7EB37E31-EF5E-4BCC-BF63-A19A62539991}"/>
    <pc:docChg chg="undo custSel addSld delSld modSld sldOrd">
      <pc:chgData name="Juan Pablo Tarquino" userId="619fa53a89ad4d51" providerId="LiveId" clId="{7EB37E31-EF5E-4BCC-BF63-A19A62539991}" dt="2026-04-10T21:04:34.423" v="506" actId="1076"/>
      <pc:docMkLst>
        <pc:docMk/>
      </pc:docMkLst>
      <pc:sldChg chg="addSp modSp mod ord">
        <pc:chgData name="Juan Pablo Tarquino" userId="619fa53a89ad4d51" providerId="LiveId" clId="{7EB37E31-EF5E-4BCC-BF63-A19A62539991}" dt="2026-04-10T21:03:13.670" v="485"/>
        <pc:sldMkLst>
          <pc:docMk/>
          <pc:sldMk cId="3411481011" sldId="256"/>
        </pc:sldMkLst>
        <pc:picChg chg="add mod">
          <ac:chgData name="Juan Pablo Tarquino" userId="619fa53a89ad4d51" providerId="LiveId" clId="{7EB37E31-EF5E-4BCC-BF63-A19A62539991}" dt="2026-04-10T21:02:40.874" v="481"/>
          <ac:picMkLst>
            <pc:docMk/>
            <pc:sldMk cId="3411481011" sldId="256"/>
            <ac:picMk id="5" creationId="{D18BEF6B-12D5-86DC-65B0-0992A8BB507F}"/>
          </ac:picMkLst>
        </pc:picChg>
      </pc:sldChg>
      <pc:sldChg chg="modSp mod">
        <pc:chgData name="Juan Pablo Tarquino" userId="619fa53a89ad4d51" providerId="LiveId" clId="{7EB37E31-EF5E-4BCC-BF63-A19A62539991}" dt="2026-04-07T15:43:31.049" v="319" actId="20577"/>
        <pc:sldMkLst>
          <pc:docMk/>
          <pc:sldMk cId="3085556934" sldId="257"/>
        </pc:sldMkLst>
        <pc:spChg chg="mod">
          <ac:chgData name="Juan Pablo Tarquino" userId="619fa53a89ad4d51" providerId="LiveId" clId="{7EB37E31-EF5E-4BCC-BF63-A19A62539991}" dt="2026-04-07T15:43:31.049" v="319" actId="20577"/>
          <ac:spMkLst>
            <pc:docMk/>
            <pc:sldMk cId="3085556934" sldId="257"/>
            <ac:spMk id="3" creationId="{598D7916-63CE-FB74-076E-E44A9B1B59C9}"/>
          </ac:spMkLst>
        </pc:spChg>
      </pc:sldChg>
      <pc:sldChg chg="modNotesTx">
        <pc:chgData name="Juan Pablo Tarquino" userId="619fa53a89ad4d51" providerId="LiveId" clId="{7EB37E31-EF5E-4BCC-BF63-A19A62539991}" dt="2026-03-31T02:01:54.209" v="0" actId="313"/>
        <pc:sldMkLst>
          <pc:docMk/>
          <pc:sldMk cId="96671113" sldId="258"/>
        </pc:sldMkLst>
      </pc:sldChg>
      <pc:sldChg chg="modSp mod modNotesTx">
        <pc:chgData name="Juan Pablo Tarquino" userId="619fa53a89ad4d51" providerId="LiveId" clId="{7EB37E31-EF5E-4BCC-BF63-A19A62539991}" dt="2026-04-07T15:45:55.481" v="336" actId="313"/>
        <pc:sldMkLst>
          <pc:docMk/>
          <pc:sldMk cId="828761936" sldId="262"/>
        </pc:sldMkLst>
        <pc:spChg chg="mod">
          <ac:chgData name="Juan Pablo Tarquino" userId="619fa53a89ad4d51" providerId="LiveId" clId="{7EB37E31-EF5E-4BCC-BF63-A19A62539991}" dt="2026-04-07T15:45:27.574" v="321" actId="20577"/>
          <ac:spMkLst>
            <pc:docMk/>
            <pc:sldMk cId="828761936" sldId="262"/>
            <ac:spMk id="3" creationId="{19714051-6D8A-B5CC-084A-649ADEC99D71}"/>
          </ac:spMkLst>
        </pc:spChg>
      </pc:sldChg>
      <pc:sldChg chg="addSp delSp modSp add mod setBg delDesignElem">
        <pc:chgData name="Juan Pablo Tarquino" userId="619fa53a89ad4d51" providerId="LiveId" clId="{7EB37E31-EF5E-4BCC-BF63-A19A62539991}" dt="2026-04-10T21:04:34.423" v="506" actId="1076"/>
        <pc:sldMkLst>
          <pc:docMk/>
          <pc:sldMk cId="462932405" sldId="266"/>
        </pc:sldMkLst>
        <pc:spChg chg="mod">
          <ac:chgData name="Juan Pablo Tarquino" userId="619fa53a89ad4d51" providerId="LiveId" clId="{7EB37E31-EF5E-4BCC-BF63-A19A62539991}" dt="2026-04-10T21:04:01.228" v="501" actId="5793"/>
          <ac:spMkLst>
            <pc:docMk/>
            <pc:sldMk cId="462932405" sldId="266"/>
            <ac:spMk id="3" creationId="{33A1B896-9F0D-736F-E7D8-94F4BE6C1423}"/>
          </ac:spMkLst>
        </pc:spChg>
        <pc:picChg chg="add mod">
          <ac:chgData name="Juan Pablo Tarquino" userId="619fa53a89ad4d51" providerId="LiveId" clId="{7EB37E31-EF5E-4BCC-BF63-A19A62539991}" dt="2026-04-10T21:04:34.423" v="506" actId="1076"/>
          <ac:picMkLst>
            <pc:docMk/>
            <pc:sldMk cId="462932405" sldId="266"/>
            <ac:picMk id="5" creationId="{D2ADC734-DAC4-1697-38F8-97E3F531D423}"/>
          </ac:picMkLst>
        </pc:picChg>
      </pc:sldChg>
      <pc:sldChg chg="modSp mod">
        <pc:chgData name="Juan Pablo Tarquino" userId="619fa53a89ad4d51" providerId="LiveId" clId="{7EB37E31-EF5E-4BCC-BF63-A19A62539991}" dt="2026-04-07T19:44:00.173" v="479" actId="403"/>
        <pc:sldMkLst>
          <pc:docMk/>
          <pc:sldMk cId="2381318140" sldId="267"/>
        </pc:sldMkLst>
        <pc:spChg chg="mod">
          <ac:chgData name="Juan Pablo Tarquino" userId="619fa53a89ad4d51" providerId="LiveId" clId="{7EB37E31-EF5E-4BCC-BF63-A19A62539991}" dt="2026-04-07T19:44:00.173" v="479" actId="403"/>
          <ac:spMkLst>
            <pc:docMk/>
            <pc:sldMk cId="2381318140" sldId="267"/>
            <ac:spMk id="3" creationId="{AAE76935-EB5F-674B-F17B-F1D882ED1694}"/>
          </ac:spMkLst>
        </pc:spChg>
      </pc:sldChg>
      <pc:sldChg chg="modNotesTx">
        <pc:chgData name="Juan Pablo Tarquino" userId="619fa53a89ad4d51" providerId="LiveId" clId="{7EB37E31-EF5E-4BCC-BF63-A19A62539991}" dt="2026-04-07T00:57:00.376" v="312" actId="313"/>
        <pc:sldMkLst>
          <pc:docMk/>
          <pc:sldMk cId="3174467460" sldId="270"/>
        </pc:sldMkLst>
      </pc:sldChg>
      <pc:sldChg chg="addSp modSp mod">
        <pc:chgData name="Juan Pablo Tarquino" userId="619fa53a89ad4d51" providerId="LiveId" clId="{7EB37E31-EF5E-4BCC-BF63-A19A62539991}" dt="2026-04-07T19:37:06.046" v="359" actId="20577"/>
        <pc:sldMkLst>
          <pc:docMk/>
          <pc:sldMk cId="1528468167" sldId="272"/>
        </pc:sldMkLst>
        <pc:spChg chg="mod">
          <ac:chgData name="Juan Pablo Tarquino" userId="619fa53a89ad4d51" providerId="LiveId" clId="{7EB37E31-EF5E-4BCC-BF63-A19A62539991}" dt="2026-04-07T19:37:06.046" v="359" actId="20577"/>
          <ac:spMkLst>
            <pc:docMk/>
            <pc:sldMk cId="1528468167" sldId="272"/>
            <ac:spMk id="3" creationId="{9482E84A-BDAD-C72C-F004-13D054A6BB29}"/>
          </ac:spMkLst>
        </pc:spChg>
        <pc:picChg chg="add mod">
          <ac:chgData name="Juan Pablo Tarquino" userId="619fa53a89ad4d51" providerId="LiveId" clId="{7EB37E31-EF5E-4BCC-BF63-A19A62539991}" dt="2026-04-07T15:42:38.324" v="318" actId="1076"/>
          <ac:picMkLst>
            <pc:docMk/>
            <pc:sldMk cId="1528468167" sldId="272"/>
            <ac:picMk id="5" creationId="{14FE3455-90A4-7EA8-C301-229D17616FE0}"/>
          </ac:picMkLst>
        </pc:picChg>
      </pc:sldChg>
      <pc:sldChg chg="modNotesTx">
        <pc:chgData name="Juan Pablo Tarquino" userId="619fa53a89ad4d51" providerId="LiveId" clId="{7EB37E31-EF5E-4BCC-BF63-A19A62539991}" dt="2026-04-07T19:23:10.589" v="348" actId="20577"/>
        <pc:sldMkLst>
          <pc:docMk/>
          <pc:sldMk cId="3681795694" sldId="273"/>
        </pc:sldMkLst>
      </pc:sldChg>
      <pc:sldChg chg="addSp delSp modSp add del mod setBg delDesignElem">
        <pc:chgData name="Juan Pablo Tarquino" userId="619fa53a89ad4d51" providerId="LiveId" clId="{7EB37E31-EF5E-4BCC-BF63-A19A62539991}" dt="2026-04-07T15:48:27.158" v="347" actId="14100"/>
        <pc:sldMkLst>
          <pc:docMk/>
          <pc:sldMk cId="3052380813" sldId="277"/>
        </pc:sldMkLst>
        <pc:picChg chg="add mod">
          <ac:chgData name="Juan Pablo Tarquino" userId="619fa53a89ad4d51" providerId="LiveId" clId="{7EB37E31-EF5E-4BCC-BF63-A19A62539991}" dt="2026-04-07T15:48:27.158" v="347" actId="14100"/>
          <ac:picMkLst>
            <pc:docMk/>
            <pc:sldMk cId="3052380813" sldId="277"/>
            <ac:picMk id="4" creationId="{EDF94011-DA43-88DA-9A42-4EF12162BD6D}"/>
          </ac:picMkLst>
        </pc:picChg>
      </pc:sldChg>
      <pc:sldChg chg="addSp delSp modSp add mod">
        <pc:chgData name="Juan Pablo Tarquino" userId="619fa53a89ad4d51" providerId="LiveId" clId="{7EB37E31-EF5E-4BCC-BF63-A19A62539991}" dt="2026-04-10T21:03:36.846" v="489" actId="14100"/>
        <pc:sldMkLst>
          <pc:docMk/>
          <pc:sldMk cId="2558385719" sldId="278"/>
        </pc:sldMkLst>
        <pc:picChg chg="add mod">
          <ac:chgData name="Juan Pablo Tarquino" userId="619fa53a89ad4d51" providerId="LiveId" clId="{7EB37E31-EF5E-4BCC-BF63-A19A62539991}" dt="2026-04-10T21:03:36.846" v="489" actId="14100"/>
          <ac:picMkLst>
            <pc:docMk/>
            <pc:sldMk cId="2558385719" sldId="278"/>
            <ac:picMk id="4" creationId="{B229868C-0DCF-F23B-B5B6-F16402163C62}"/>
          </ac:picMkLst>
        </pc:picChg>
        <pc:picChg chg="del">
          <ac:chgData name="Juan Pablo Tarquino" userId="619fa53a89ad4d51" providerId="LiveId" clId="{7EB37E31-EF5E-4BCC-BF63-A19A62539991}" dt="2026-04-10T21:02:50.938" v="483" actId="478"/>
          <ac:picMkLst>
            <pc:docMk/>
            <pc:sldMk cId="2558385719" sldId="278"/>
            <ac:picMk id="5" creationId="{D35BD234-D6E7-4703-3DB1-F604681E72EB}"/>
          </ac:picMkLst>
        </pc:picChg>
      </pc:sldChg>
    </pc:docChg>
  </pc:docChgLst>
  <pc:docChgLst>
    <pc:chgData name="Juan Pablo Tarquino" userId="619fa53a89ad4d51" providerId="Windows Live" clId="Web-{FC6B2FF4-71B7-4DFB-083C-5CB76D271A57}"/>
    <pc:docChg chg="modSld">
      <pc:chgData name="Juan Pablo Tarquino" userId="619fa53a89ad4d51" providerId="Windows Live" clId="Web-{FC6B2FF4-71B7-4DFB-083C-5CB76D271A57}" dt="2026-03-14T19:27:56.068" v="980"/>
      <pc:docMkLst>
        <pc:docMk/>
      </pc:docMkLst>
      <pc:sldChg chg="modNotes">
        <pc:chgData name="Juan Pablo Tarquino" userId="619fa53a89ad4d51" providerId="Windows Live" clId="Web-{FC6B2FF4-71B7-4DFB-083C-5CB76D271A57}" dt="2026-03-14T19:19:12.761" v="288"/>
        <pc:sldMkLst>
          <pc:docMk/>
          <pc:sldMk cId="828761936" sldId="262"/>
        </pc:sldMkLst>
      </pc:sldChg>
      <pc:sldChg chg="modSp modNotes">
        <pc:chgData name="Juan Pablo Tarquino" userId="619fa53a89ad4d51" providerId="Windows Live" clId="Web-{FC6B2FF4-71B7-4DFB-083C-5CB76D271A57}" dt="2026-03-14T19:27:56.068" v="980"/>
        <pc:sldMkLst>
          <pc:docMk/>
          <pc:sldMk cId="3248658166" sldId="269"/>
        </pc:sldMkLst>
        <pc:spChg chg="mod">
          <ac:chgData name="Juan Pablo Tarquino" userId="619fa53a89ad4d51" providerId="Windows Live" clId="Web-{FC6B2FF4-71B7-4DFB-083C-5CB76D271A57}" dt="2026-03-14T19:19:29.168" v="297" actId="20577"/>
          <ac:spMkLst>
            <pc:docMk/>
            <pc:sldMk cId="3248658166" sldId="269"/>
            <ac:spMk id="3" creationId="{DFBFC627-69DC-AD8A-E1DA-A63C6D11291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D7CB6C-B0BC-4110-BAC2-53A8A31C10D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F22FD91-BFDF-478E-8688-D71503BE8220}">
      <dgm:prSet/>
      <dgm:spPr/>
      <dgm:t>
        <a:bodyPr/>
        <a:lstStyle/>
        <a:p>
          <a:r>
            <a:rPr lang="en-US"/>
            <a:t>PowerFX is a popular, powerful and business friendly language</a:t>
          </a:r>
        </a:p>
      </dgm:t>
    </dgm:pt>
    <dgm:pt modelId="{4D9F0E45-37FC-4E37-A591-7784C215E823}" type="parTrans" cxnId="{0B1DC64C-B731-44C3-A689-BE3552F5141B}">
      <dgm:prSet/>
      <dgm:spPr/>
      <dgm:t>
        <a:bodyPr/>
        <a:lstStyle/>
        <a:p>
          <a:endParaRPr lang="en-US"/>
        </a:p>
      </dgm:t>
    </dgm:pt>
    <dgm:pt modelId="{862DDF67-7B07-4156-A1B6-14FA0C5D4D18}" type="sibTrans" cxnId="{0B1DC64C-B731-44C3-A689-BE3552F5141B}">
      <dgm:prSet/>
      <dgm:spPr/>
      <dgm:t>
        <a:bodyPr/>
        <a:lstStyle/>
        <a:p>
          <a:endParaRPr lang="en-US"/>
        </a:p>
      </dgm:t>
    </dgm:pt>
    <dgm:pt modelId="{C09FB9AA-EDA5-4A06-B215-2E1FF6995028}">
      <dgm:prSet/>
      <dgm:spPr/>
      <dgm:t>
        <a:bodyPr/>
        <a:lstStyle/>
        <a:p>
          <a:r>
            <a:rPr lang="en-US"/>
            <a:t>Microsoft provides an interpreter for .NET</a:t>
          </a:r>
        </a:p>
      </dgm:t>
    </dgm:pt>
    <dgm:pt modelId="{E7B05BA3-DA5D-4684-A4C5-78EE3F67565D}" type="parTrans" cxnId="{5966FA71-ADAB-43F5-85CD-712FADE0F724}">
      <dgm:prSet/>
      <dgm:spPr/>
      <dgm:t>
        <a:bodyPr/>
        <a:lstStyle/>
        <a:p>
          <a:endParaRPr lang="en-US"/>
        </a:p>
      </dgm:t>
    </dgm:pt>
    <dgm:pt modelId="{0E5F0E21-752E-45B0-83C1-4D661A32833F}" type="sibTrans" cxnId="{5966FA71-ADAB-43F5-85CD-712FADE0F724}">
      <dgm:prSet/>
      <dgm:spPr/>
      <dgm:t>
        <a:bodyPr/>
        <a:lstStyle/>
        <a:p>
          <a:endParaRPr lang="en-US"/>
        </a:p>
      </dgm:t>
    </dgm:pt>
    <dgm:pt modelId="{D4AA6050-A446-4205-9F26-6392DBC9FF76}">
      <dgm:prSet/>
      <dgm:spPr/>
      <dgm:t>
        <a:bodyPr/>
        <a:lstStyle/>
        <a:p>
          <a:r>
            <a:rPr lang="en-US"/>
            <a:t>Your app can evaluate PowerFX formulas at runtime</a:t>
          </a:r>
        </a:p>
      </dgm:t>
    </dgm:pt>
    <dgm:pt modelId="{24B04525-C14F-4F54-85F6-0C79937A557C}" type="parTrans" cxnId="{1A0D5AC6-8A8C-43A2-9EAF-683992ED6DEC}">
      <dgm:prSet/>
      <dgm:spPr/>
      <dgm:t>
        <a:bodyPr/>
        <a:lstStyle/>
        <a:p>
          <a:endParaRPr lang="en-US"/>
        </a:p>
      </dgm:t>
    </dgm:pt>
    <dgm:pt modelId="{8053691E-B2AD-4E60-ACE3-BE1D6324FCE1}" type="sibTrans" cxnId="{1A0D5AC6-8A8C-43A2-9EAF-683992ED6DEC}">
      <dgm:prSet/>
      <dgm:spPr/>
      <dgm:t>
        <a:bodyPr/>
        <a:lstStyle/>
        <a:p>
          <a:endParaRPr lang="en-US"/>
        </a:p>
      </dgm:t>
    </dgm:pt>
    <dgm:pt modelId="{8572A613-82D9-49CE-BC5E-88C879995121}" type="pres">
      <dgm:prSet presAssocID="{ACD7CB6C-B0BC-4110-BAC2-53A8A31C10D6}" presName="vert0" presStyleCnt="0">
        <dgm:presLayoutVars>
          <dgm:dir/>
          <dgm:animOne val="branch"/>
          <dgm:animLvl val="lvl"/>
        </dgm:presLayoutVars>
      </dgm:prSet>
      <dgm:spPr/>
    </dgm:pt>
    <dgm:pt modelId="{BA4F1152-9D73-4CFC-90B3-FB12FD108D6B}" type="pres">
      <dgm:prSet presAssocID="{9F22FD91-BFDF-478E-8688-D71503BE8220}" presName="thickLine" presStyleLbl="alignNode1" presStyleIdx="0" presStyleCnt="3"/>
      <dgm:spPr/>
    </dgm:pt>
    <dgm:pt modelId="{83C8EEDD-2C5A-43AE-BB70-01BB5946A89E}" type="pres">
      <dgm:prSet presAssocID="{9F22FD91-BFDF-478E-8688-D71503BE8220}" presName="horz1" presStyleCnt="0"/>
      <dgm:spPr/>
    </dgm:pt>
    <dgm:pt modelId="{34386AE2-F37D-4B72-A1D5-AAAC37207C6C}" type="pres">
      <dgm:prSet presAssocID="{9F22FD91-BFDF-478E-8688-D71503BE8220}" presName="tx1" presStyleLbl="revTx" presStyleIdx="0" presStyleCnt="3"/>
      <dgm:spPr/>
    </dgm:pt>
    <dgm:pt modelId="{5D5AB14E-2257-4689-8CD0-C264C0519CFC}" type="pres">
      <dgm:prSet presAssocID="{9F22FD91-BFDF-478E-8688-D71503BE8220}" presName="vert1" presStyleCnt="0"/>
      <dgm:spPr/>
    </dgm:pt>
    <dgm:pt modelId="{A414CF4D-6425-4C55-9569-45B86971CFDA}" type="pres">
      <dgm:prSet presAssocID="{C09FB9AA-EDA5-4A06-B215-2E1FF6995028}" presName="thickLine" presStyleLbl="alignNode1" presStyleIdx="1" presStyleCnt="3"/>
      <dgm:spPr/>
    </dgm:pt>
    <dgm:pt modelId="{25DA8EA6-071E-4658-8443-C16190C78661}" type="pres">
      <dgm:prSet presAssocID="{C09FB9AA-EDA5-4A06-B215-2E1FF6995028}" presName="horz1" presStyleCnt="0"/>
      <dgm:spPr/>
    </dgm:pt>
    <dgm:pt modelId="{90575A51-9BC9-4CB5-948C-C6297AB75179}" type="pres">
      <dgm:prSet presAssocID="{C09FB9AA-EDA5-4A06-B215-2E1FF6995028}" presName="tx1" presStyleLbl="revTx" presStyleIdx="1" presStyleCnt="3"/>
      <dgm:spPr/>
    </dgm:pt>
    <dgm:pt modelId="{B4DA2838-E3D0-4F5D-9DC7-4187DCFEB259}" type="pres">
      <dgm:prSet presAssocID="{C09FB9AA-EDA5-4A06-B215-2E1FF6995028}" presName="vert1" presStyleCnt="0"/>
      <dgm:spPr/>
    </dgm:pt>
    <dgm:pt modelId="{E69807BF-576B-4452-901C-A24836D87E64}" type="pres">
      <dgm:prSet presAssocID="{D4AA6050-A446-4205-9F26-6392DBC9FF76}" presName="thickLine" presStyleLbl="alignNode1" presStyleIdx="2" presStyleCnt="3"/>
      <dgm:spPr/>
    </dgm:pt>
    <dgm:pt modelId="{171C75A0-BFCE-4A07-A1DA-993745610395}" type="pres">
      <dgm:prSet presAssocID="{D4AA6050-A446-4205-9F26-6392DBC9FF76}" presName="horz1" presStyleCnt="0"/>
      <dgm:spPr/>
    </dgm:pt>
    <dgm:pt modelId="{BAC8619D-CD0D-48E6-981E-7390C29F4C42}" type="pres">
      <dgm:prSet presAssocID="{D4AA6050-A446-4205-9F26-6392DBC9FF76}" presName="tx1" presStyleLbl="revTx" presStyleIdx="2" presStyleCnt="3"/>
      <dgm:spPr/>
    </dgm:pt>
    <dgm:pt modelId="{F5F7618D-30CD-4A86-8BB6-9E0274C32B44}" type="pres">
      <dgm:prSet presAssocID="{D4AA6050-A446-4205-9F26-6392DBC9FF76}" presName="vert1" presStyleCnt="0"/>
      <dgm:spPr/>
    </dgm:pt>
  </dgm:ptLst>
  <dgm:cxnLst>
    <dgm:cxn modelId="{39E9B038-37C3-4DF3-9AF7-6AAC89C81E7C}" type="presOf" srcId="{ACD7CB6C-B0BC-4110-BAC2-53A8A31C10D6}" destId="{8572A613-82D9-49CE-BC5E-88C879995121}" srcOrd="0" destOrd="0" presId="urn:microsoft.com/office/officeart/2008/layout/LinedList"/>
    <dgm:cxn modelId="{0B1DC64C-B731-44C3-A689-BE3552F5141B}" srcId="{ACD7CB6C-B0BC-4110-BAC2-53A8A31C10D6}" destId="{9F22FD91-BFDF-478E-8688-D71503BE8220}" srcOrd="0" destOrd="0" parTransId="{4D9F0E45-37FC-4E37-A591-7784C215E823}" sibTransId="{862DDF67-7B07-4156-A1B6-14FA0C5D4D18}"/>
    <dgm:cxn modelId="{5966FA71-ADAB-43F5-85CD-712FADE0F724}" srcId="{ACD7CB6C-B0BC-4110-BAC2-53A8A31C10D6}" destId="{C09FB9AA-EDA5-4A06-B215-2E1FF6995028}" srcOrd="1" destOrd="0" parTransId="{E7B05BA3-DA5D-4684-A4C5-78EE3F67565D}" sibTransId="{0E5F0E21-752E-45B0-83C1-4D661A32833F}"/>
    <dgm:cxn modelId="{B593DC7D-690E-4DB8-AA6A-4FA51FD01AD6}" type="presOf" srcId="{9F22FD91-BFDF-478E-8688-D71503BE8220}" destId="{34386AE2-F37D-4B72-A1D5-AAAC37207C6C}" srcOrd="0" destOrd="0" presId="urn:microsoft.com/office/officeart/2008/layout/LinedList"/>
    <dgm:cxn modelId="{266CE492-0BBF-4248-8515-B479046CDB21}" type="presOf" srcId="{D4AA6050-A446-4205-9F26-6392DBC9FF76}" destId="{BAC8619D-CD0D-48E6-981E-7390C29F4C42}" srcOrd="0" destOrd="0" presId="urn:microsoft.com/office/officeart/2008/layout/LinedList"/>
    <dgm:cxn modelId="{1A0D5AC6-8A8C-43A2-9EAF-683992ED6DEC}" srcId="{ACD7CB6C-B0BC-4110-BAC2-53A8A31C10D6}" destId="{D4AA6050-A446-4205-9F26-6392DBC9FF76}" srcOrd="2" destOrd="0" parTransId="{24B04525-C14F-4F54-85F6-0C79937A557C}" sibTransId="{8053691E-B2AD-4E60-ACE3-BE1D6324FCE1}"/>
    <dgm:cxn modelId="{B3ED93F7-0E40-4AF5-86AC-23E4BAB9EC7E}" type="presOf" srcId="{C09FB9AA-EDA5-4A06-B215-2E1FF6995028}" destId="{90575A51-9BC9-4CB5-948C-C6297AB75179}" srcOrd="0" destOrd="0" presId="urn:microsoft.com/office/officeart/2008/layout/LinedList"/>
    <dgm:cxn modelId="{941F44F0-14AF-49EB-9E52-6D29151F5736}" type="presParOf" srcId="{8572A613-82D9-49CE-BC5E-88C879995121}" destId="{BA4F1152-9D73-4CFC-90B3-FB12FD108D6B}" srcOrd="0" destOrd="0" presId="urn:microsoft.com/office/officeart/2008/layout/LinedList"/>
    <dgm:cxn modelId="{EAEFB035-AC2E-45D5-81E1-D7E454C59682}" type="presParOf" srcId="{8572A613-82D9-49CE-BC5E-88C879995121}" destId="{83C8EEDD-2C5A-43AE-BB70-01BB5946A89E}" srcOrd="1" destOrd="0" presId="urn:microsoft.com/office/officeart/2008/layout/LinedList"/>
    <dgm:cxn modelId="{850C83FC-900D-427B-80B7-DEE6F26E7080}" type="presParOf" srcId="{83C8EEDD-2C5A-43AE-BB70-01BB5946A89E}" destId="{34386AE2-F37D-4B72-A1D5-AAAC37207C6C}" srcOrd="0" destOrd="0" presId="urn:microsoft.com/office/officeart/2008/layout/LinedList"/>
    <dgm:cxn modelId="{618D7578-CFEA-4E1C-9FDB-08C23401B259}" type="presParOf" srcId="{83C8EEDD-2C5A-43AE-BB70-01BB5946A89E}" destId="{5D5AB14E-2257-4689-8CD0-C264C0519CFC}" srcOrd="1" destOrd="0" presId="urn:microsoft.com/office/officeart/2008/layout/LinedList"/>
    <dgm:cxn modelId="{AD6B9125-18E6-440A-8E4A-732AE2DAC9C7}" type="presParOf" srcId="{8572A613-82D9-49CE-BC5E-88C879995121}" destId="{A414CF4D-6425-4C55-9569-45B86971CFDA}" srcOrd="2" destOrd="0" presId="urn:microsoft.com/office/officeart/2008/layout/LinedList"/>
    <dgm:cxn modelId="{2EB61467-1756-40FA-891C-BA7DC81BBCBD}" type="presParOf" srcId="{8572A613-82D9-49CE-BC5E-88C879995121}" destId="{25DA8EA6-071E-4658-8443-C16190C78661}" srcOrd="3" destOrd="0" presId="urn:microsoft.com/office/officeart/2008/layout/LinedList"/>
    <dgm:cxn modelId="{6526590D-C45F-4A41-B538-0DFD92C91FBD}" type="presParOf" srcId="{25DA8EA6-071E-4658-8443-C16190C78661}" destId="{90575A51-9BC9-4CB5-948C-C6297AB75179}" srcOrd="0" destOrd="0" presId="urn:microsoft.com/office/officeart/2008/layout/LinedList"/>
    <dgm:cxn modelId="{BB0FF82B-7687-4F28-8FFF-68240A1233CA}" type="presParOf" srcId="{25DA8EA6-071E-4658-8443-C16190C78661}" destId="{B4DA2838-E3D0-4F5D-9DC7-4187DCFEB259}" srcOrd="1" destOrd="0" presId="urn:microsoft.com/office/officeart/2008/layout/LinedList"/>
    <dgm:cxn modelId="{13507CB6-0B73-4635-966E-537A43F69542}" type="presParOf" srcId="{8572A613-82D9-49CE-BC5E-88C879995121}" destId="{E69807BF-576B-4452-901C-A24836D87E64}" srcOrd="4" destOrd="0" presId="urn:microsoft.com/office/officeart/2008/layout/LinedList"/>
    <dgm:cxn modelId="{C8CFC853-6F3F-4C90-9C97-F0B543CE5E27}" type="presParOf" srcId="{8572A613-82D9-49CE-BC5E-88C879995121}" destId="{171C75A0-BFCE-4A07-A1DA-993745610395}" srcOrd="5" destOrd="0" presId="urn:microsoft.com/office/officeart/2008/layout/LinedList"/>
    <dgm:cxn modelId="{582FE453-DAB1-43F4-9AAB-6F33753C22DA}" type="presParOf" srcId="{171C75A0-BFCE-4A07-A1DA-993745610395}" destId="{BAC8619D-CD0D-48E6-981E-7390C29F4C42}" srcOrd="0" destOrd="0" presId="urn:microsoft.com/office/officeart/2008/layout/LinedList"/>
    <dgm:cxn modelId="{343DCA76-513B-4CDB-9144-CF03FB39F37D}" type="presParOf" srcId="{171C75A0-BFCE-4A07-A1DA-993745610395}" destId="{F5F7618D-30CD-4A86-8BB6-9E0274C32B4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4F1152-9D73-4CFC-90B3-FB12FD108D6B}">
      <dsp:nvSpPr>
        <dsp:cNvPr id="0" name=""/>
        <dsp:cNvSpPr/>
      </dsp:nvSpPr>
      <dsp:spPr>
        <a:xfrm>
          <a:off x="0" y="2703"/>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386AE2-F37D-4B72-A1D5-AAAC37207C6C}">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PowerFX is a popular, powerful and business friendly language</a:t>
          </a:r>
        </a:p>
      </dsp:txBody>
      <dsp:txXfrm>
        <a:off x="0" y="2703"/>
        <a:ext cx="6900512" cy="1843578"/>
      </dsp:txXfrm>
    </dsp:sp>
    <dsp:sp modelId="{A414CF4D-6425-4C55-9569-45B86971CFDA}">
      <dsp:nvSpPr>
        <dsp:cNvPr id="0" name=""/>
        <dsp:cNvSpPr/>
      </dsp:nvSpPr>
      <dsp:spPr>
        <a:xfrm>
          <a:off x="0" y="1846281"/>
          <a:ext cx="6900512"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575A51-9BC9-4CB5-948C-C6297AB75179}">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Microsoft provides an interpreter for .NET</a:t>
          </a:r>
        </a:p>
      </dsp:txBody>
      <dsp:txXfrm>
        <a:off x="0" y="1846281"/>
        <a:ext cx="6900512" cy="1843578"/>
      </dsp:txXfrm>
    </dsp:sp>
    <dsp:sp modelId="{E69807BF-576B-4452-901C-A24836D87E64}">
      <dsp:nvSpPr>
        <dsp:cNvPr id="0" name=""/>
        <dsp:cNvSpPr/>
      </dsp:nvSpPr>
      <dsp:spPr>
        <a:xfrm>
          <a:off x="0" y="3689859"/>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C8619D-CD0D-48E6-981E-7390C29F4C42}">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Your app can evaluate PowerFX formulas at runtime</a:t>
          </a:r>
        </a:p>
      </dsp:txBody>
      <dsp:txXfrm>
        <a:off x="0" y="3689859"/>
        <a:ext cx="6900512" cy="184357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F0FD94-F7CE-4D08-B49E-5E530976B685}"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ADD39-AB8A-4278-99D9-40CD8D745BA1}" type="slidenum">
              <a:rPr lang="en-US" smtClean="0"/>
              <a:t>‹#›</a:t>
            </a:fld>
            <a:endParaRPr lang="en-US"/>
          </a:p>
        </p:txBody>
      </p:sp>
    </p:spTree>
    <p:extLst>
      <p:ext uri="{BB962C8B-B14F-4D97-AF65-F5344CB8AC3E}">
        <p14:creationId xmlns:p14="http://schemas.microsoft.com/office/powerpoint/2010/main" val="320936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power-platform/power-fx/overview"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5A21C-48BE-647A-6724-CF19E55D9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89F19-C34D-5B34-45EA-69AB84F24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37B05-16DF-8DF9-651F-C57639F505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F185AD-6AF8-016A-0B66-CA3E3BFF51C0}"/>
              </a:ext>
            </a:extLst>
          </p:cNvPr>
          <p:cNvSpPr>
            <a:spLocks noGrp="1"/>
          </p:cNvSpPr>
          <p:nvPr>
            <p:ph type="sldNum" sz="quarter" idx="5"/>
          </p:nvPr>
        </p:nvSpPr>
        <p:spPr/>
        <p:txBody>
          <a:bodyPr/>
          <a:lstStyle/>
          <a:p>
            <a:fld id="{A3FADD39-AB8A-4278-99D9-40CD8D745BA1}" type="slidenum">
              <a:rPr lang="en-US" smtClean="0"/>
              <a:t>1</a:t>
            </a:fld>
            <a:endParaRPr lang="en-US"/>
          </a:p>
        </p:txBody>
      </p:sp>
    </p:spTree>
    <p:extLst>
      <p:ext uri="{BB962C8B-B14F-4D97-AF65-F5344CB8AC3E}">
        <p14:creationId xmlns:p14="http://schemas.microsoft.com/office/powerpoint/2010/main" val="2875057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Juan Tarquino, I am software developer with 20 years of experience, mostly .NET and SQL, but I also did some Ruby and Java and even a dialect of Cobol earlier in my career.</a:t>
            </a:r>
          </a:p>
          <a:p>
            <a:r>
              <a:rPr lang="en-US" dirty="0"/>
              <a:t>Here is my linked in link, if you wish to contact me with questions or comments after the conference, or if you would just like to connect.</a:t>
            </a:r>
          </a:p>
          <a:p>
            <a:r>
              <a:rPr lang="en-US" dirty="0"/>
              <a:t>The sample GitHub repository for this session is at this link (QR code).</a:t>
            </a:r>
          </a:p>
          <a:p>
            <a:r>
              <a:rPr lang="en-US" dirty="0"/>
              <a:t>I know is hard to believe but I was not born in this country, so I do have an accent. Please feel free to ask me to repeat or to clarify things if there is something I am not explaining clearly. I will not be offended at all.</a:t>
            </a:r>
          </a:p>
        </p:txBody>
      </p:sp>
      <p:sp>
        <p:nvSpPr>
          <p:cNvPr id="4" name="Slide Number Placeholder 3"/>
          <p:cNvSpPr>
            <a:spLocks noGrp="1"/>
          </p:cNvSpPr>
          <p:nvPr>
            <p:ph type="sldNum" sz="quarter" idx="5"/>
          </p:nvPr>
        </p:nvSpPr>
        <p:spPr/>
        <p:txBody>
          <a:bodyPr/>
          <a:lstStyle/>
          <a:p>
            <a:fld id="{CDDD3684-6E52-4019-8D61-A9B0BAC0DBD6}" type="slidenum">
              <a:rPr lang="en-US" smtClean="0"/>
              <a:t>2</a:t>
            </a:fld>
            <a:endParaRPr lang="en-US"/>
          </a:p>
        </p:txBody>
      </p:sp>
    </p:spTree>
    <p:extLst>
      <p:ext uri="{BB962C8B-B14F-4D97-AF65-F5344CB8AC3E}">
        <p14:creationId xmlns:p14="http://schemas.microsoft.com/office/powerpoint/2010/main" val="2469617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FADD39-AB8A-4278-99D9-40CD8D745BA1}" type="slidenum">
              <a:rPr lang="en-US" smtClean="0"/>
              <a:t>3</a:t>
            </a:fld>
            <a:endParaRPr lang="en-US"/>
          </a:p>
        </p:txBody>
      </p:sp>
    </p:spTree>
    <p:extLst>
      <p:ext uri="{BB962C8B-B14F-4D97-AF65-F5344CB8AC3E}">
        <p14:creationId xmlns:p14="http://schemas.microsoft.com/office/powerpoint/2010/main" val="291971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talk about how to use </a:t>
            </a:r>
            <a:r>
              <a:rPr lang="en-US" dirty="0" err="1"/>
              <a:t>PowerFX</a:t>
            </a:r>
            <a:r>
              <a:rPr lang="en-US" dirty="0"/>
              <a:t> from a .NET app. But before we move to that we will first go through a pretend scenario that will describe a problem that many Dev teams in the enterprise face.</a:t>
            </a:r>
          </a:p>
          <a:p>
            <a:r>
              <a:rPr lang="en-US" dirty="0"/>
              <a:t>We will then introduce what </a:t>
            </a:r>
            <a:r>
              <a:rPr lang="en-US" dirty="0" err="1"/>
              <a:t>PowerFX</a:t>
            </a:r>
            <a:r>
              <a:rPr lang="en-US" dirty="0"/>
              <a:t> is and how it can be a solution to the problem stated. </a:t>
            </a:r>
          </a:p>
          <a:p>
            <a:r>
              <a:rPr lang="en-US" dirty="0"/>
              <a:t>We will then move to how we can embed a </a:t>
            </a:r>
            <a:r>
              <a:rPr lang="en-US" dirty="0" err="1"/>
              <a:t>PowerFX</a:t>
            </a:r>
            <a:r>
              <a:rPr lang="en-US" dirty="0"/>
              <a:t> </a:t>
            </a:r>
            <a:r>
              <a:rPr lang="en-US" dirty="0" err="1"/>
              <a:t>interpereter</a:t>
            </a:r>
            <a:r>
              <a:rPr lang="en-US" dirty="0"/>
              <a:t> from a </a:t>
            </a:r>
            <a:r>
              <a:rPr lang="en-US" dirty="0" err="1"/>
              <a:t>.net</a:t>
            </a:r>
            <a:r>
              <a:rPr lang="en-US" dirty="0"/>
              <a:t> app in order to run </a:t>
            </a:r>
            <a:r>
              <a:rPr lang="en-US" dirty="0" err="1"/>
              <a:t>PowerFX</a:t>
            </a:r>
            <a:r>
              <a:rPr lang="en-US" dirty="0"/>
              <a:t> formulas from .NET.</a:t>
            </a:r>
          </a:p>
          <a:p>
            <a:r>
              <a:rPr lang="en-US" dirty="0"/>
              <a:t>Finally, we will explore ways we can extend </a:t>
            </a:r>
            <a:r>
              <a:rPr lang="en-US" dirty="0" err="1"/>
              <a:t>PowerFX</a:t>
            </a:r>
            <a:r>
              <a:rPr lang="en-US" dirty="0"/>
              <a:t> by creating custom functions in .NET that can be called from </a:t>
            </a:r>
            <a:r>
              <a:rPr lang="en-US" dirty="0" err="1"/>
              <a:t>PowerFX</a:t>
            </a:r>
            <a:r>
              <a:rPr lang="en-US" dirty="0"/>
              <a:t>.</a:t>
            </a:r>
          </a:p>
        </p:txBody>
      </p:sp>
      <p:sp>
        <p:nvSpPr>
          <p:cNvPr id="4" name="Slide Number Placeholder 3"/>
          <p:cNvSpPr>
            <a:spLocks noGrp="1"/>
          </p:cNvSpPr>
          <p:nvPr>
            <p:ph type="sldNum" sz="quarter" idx="5"/>
          </p:nvPr>
        </p:nvSpPr>
        <p:spPr/>
        <p:txBody>
          <a:bodyPr/>
          <a:lstStyle/>
          <a:p>
            <a:fld id="{A3FADD39-AB8A-4278-99D9-40CD8D745BA1}" type="slidenum">
              <a:rPr lang="en-US" smtClean="0"/>
              <a:t>4</a:t>
            </a:fld>
            <a:endParaRPr lang="en-US"/>
          </a:p>
        </p:txBody>
      </p:sp>
    </p:spTree>
    <p:extLst>
      <p:ext uri="{BB962C8B-B14F-4D97-AF65-F5344CB8AC3E}">
        <p14:creationId xmlns:p14="http://schemas.microsoft.com/office/powerpoint/2010/main" val="1514823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start our session with a story abut a pretend company and a </a:t>
            </a:r>
            <a:r>
              <a:rPr lang="en-US" dirty="0" err="1"/>
              <a:t>a</a:t>
            </a:r>
            <a:r>
              <a:rPr lang="en-US" dirty="0"/>
              <a:t> fake dev team. This story will help us frame a problem that </a:t>
            </a:r>
            <a:r>
              <a:rPr lang="en-US" dirty="0" err="1"/>
              <a:t>PowerFX</a:t>
            </a:r>
            <a:r>
              <a:rPr lang="en-US" dirty="0"/>
              <a:t> is a good candidate to solve.</a:t>
            </a:r>
          </a:p>
          <a:p>
            <a:endParaRPr lang="en-US" dirty="0"/>
          </a:p>
          <a:p>
            <a:r>
              <a:rPr lang="en-US" dirty="0"/>
              <a:t>Our pretend enterprise is </a:t>
            </a:r>
            <a:r>
              <a:rPr lang="en-US" dirty="0" err="1"/>
              <a:t>Pizzas’R’Us</a:t>
            </a:r>
            <a:r>
              <a:rPr lang="en-US" dirty="0"/>
              <a:t>. A small but profitable company, trying to be as nimble as possible. They provide pizza services to restaurants and super-markets.</a:t>
            </a:r>
          </a:p>
        </p:txBody>
      </p:sp>
      <p:sp>
        <p:nvSpPr>
          <p:cNvPr id="4" name="Slide Number Placeholder 3"/>
          <p:cNvSpPr>
            <a:spLocks noGrp="1"/>
          </p:cNvSpPr>
          <p:nvPr>
            <p:ph type="sldNum" sz="quarter" idx="5"/>
          </p:nvPr>
        </p:nvSpPr>
        <p:spPr/>
        <p:txBody>
          <a:bodyPr/>
          <a:lstStyle/>
          <a:p>
            <a:fld id="{CDDD3684-6E52-4019-8D61-A9B0BAC0DBD6}" type="slidenum">
              <a:rPr lang="en-US" smtClean="0"/>
              <a:t>5</a:t>
            </a:fld>
            <a:endParaRPr lang="en-US"/>
          </a:p>
        </p:txBody>
      </p:sp>
    </p:spTree>
    <p:extLst>
      <p:ext uri="{BB962C8B-B14F-4D97-AF65-F5344CB8AC3E}">
        <p14:creationId xmlns:p14="http://schemas.microsoft.com/office/powerpoint/2010/main" val="2486648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Pizza’r’us</a:t>
            </a:r>
            <a:r>
              <a:rPr lang="en-US" dirty="0"/>
              <a:t> has a small dev team led by Alexandria. Alexandria is great .NET developer, and her talent has helped the business units achieve many of their goals via the custom apps and jobs she has created for them.</a:t>
            </a:r>
          </a:p>
          <a:p>
            <a:r>
              <a:rPr lang="en-US" dirty="0"/>
              <a:t>Because of the competitive business environment, the business units have been busy asking Alexandria for changes and new features. </a:t>
            </a:r>
          </a:p>
          <a:p>
            <a:r>
              <a:rPr lang="en-US" dirty="0"/>
              <a:t>Alexandria has a great reputation with the business side, but she sometimes feels like the bottleneck and wishes their was a way to make those changes faster or for another team to be able to help with the changes.</a:t>
            </a:r>
          </a:p>
          <a:p>
            <a:endParaRPr lang="en-US" dirty="0"/>
          </a:p>
          <a:p>
            <a:r>
              <a:rPr lang="en-US" dirty="0"/>
              <a:t>She notices that the biggest part of those changes have been changes to business rules, as the business is trying to evolve their tactics to gain a competitive advantage.</a:t>
            </a:r>
          </a:p>
          <a:p>
            <a:r>
              <a:rPr lang="en-US" dirty="0"/>
              <a:t> </a:t>
            </a:r>
          </a:p>
        </p:txBody>
      </p:sp>
      <p:sp>
        <p:nvSpPr>
          <p:cNvPr id="4" name="Slide Number Placeholder 3"/>
          <p:cNvSpPr>
            <a:spLocks noGrp="1"/>
          </p:cNvSpPr>
          <p:nvPr>
            <p:ph type="sldNum" sz="quarter" idx="5"/>
          </p:nvPr>
        </p:nvSpPr>
        <p:spPr/>
        <p:txBody>
          <a:bodyPr/>
          <a:lstStyle/>
          <a:p>
            <a:fld id="{A3FADD39-AB8A-4278-99D9-40CD8D745BA1}" type="slidenum">
              <a:rPr lang="en-US" smtClean="0"/>
              <a:t>6</a:t>
            </a:fld>
            <a:endParaRPr lang="en-US"/>
          </a:p>
        </p:txBody>
      </p:sp>
    </p:spTree>
    <p:extLst>
      <p:ext uri="{BB962C8B-B14F-4D97-AF65-F5344CB8AC3E}">
        <p14:creationId xmlns:p14="http://schemas.microsoft.com/office/powerpoint/2010/main" val="676335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CA3A5-22AF-DD8C-00D6-BEC44910F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606CC-1D5F-DFBD-43F2-4DF0ACFF2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82516-3ED4-7437-D0E9-AF86A66FCCFE}"/>
              </a:ext>
            </a:extLst>
          </p:cNvPr>
          <p:cNvSpPr>
            <a:spLocks noGrp="1"/>
          </p:cNvSpPr>
          <p:nvPr>
            <p:ph type="body" idx="1"/>
          </p:nvPr>
        </p:nvSpPr>
        <p:spPr/>
        <p:txBody>
          <a:bodyPr/>
          <a:lstStyle/>
          <a:p>
            <a:r>
              <a:rPr lang="en-US" dirty="0"/>
              <a:t>We need to talk about what is and what is not Business Logic (aka Business Rules). I will give you my definition that I have found from experience over the years. Business logic is what makes your app helpful to the business. The logic is very specific and very unique because it tries to solve the specific problem your business has. </a:t>
            </a:r>
          </a:p>
          <a:p>
            <a:endParaRPr lang="en-US" dirty="0"/>
          </a:p>
          <a:p>
            <a:r>
              <a:rPr lang="en-US" dirty="0"/>
              <a:t>This logic is not the code you write in order to communicate with external dependencies. It is not the code you write to open a database connection, or drop a message in a queue, or send an email, or even call an HTTP service. It is the code that determine when those things happen and the contents of their payload. For example, the requirement is to notify a customer if their account has an monthly average lower than the average of the previous 12 months. The business logic is the logic that determines the criteria (the average calculations) and the </a:t>
            </a:r>
            <a:r>
              <a:rPr lang="en-US" dirty="0" err="1"/>
              <a:t>the</a:t>
            </a:r>
            <a:r>
              <a:rPr lang="en-US" dirty="0"/>
              <a:t> contents of the message (what will go into the notification). It is not the code that you have to write to access the database to pull the data to calculate the averages, nor it is the code that you use to connect to MS Graph to send the email via Outlook services.</a:t>
            </a:r>
          </a:p>
          <a:p>
            <a:endParaRPr lang="en-US" dirty="0"/>
          </a:p>
          <a:p>
            <a:r>
              <a:rPr lang="en-US" dirty="0"/>
              <a:t>By doing this separation, you are able to test the business logic in more reliable way since you are coding your logic with a explicit separation from your external dependencies. For example, it makes it easier to test that the verbiage of the email will be correct without having to actually send ay emails or fully faking an email service. It also reduces your integration to the bare minimum.</a:t>
            </a:r>
          </a:p>
          <a:p>
            <a:endParaRPr lang="en-US" dirty="0"/>
          </a:p>
          <a:p>
            <a:r>
              <a:rPr lang="en-US" dirty="0"/>
              <a:t>Several architecture styles out there reinforce this notion, for example ports and adapters and the hexagon architecture. </a:t>
            </a:r>
          </a:p>
          <a:p>
            <a:r>
              <a:rPr lang="en-US" dirty="0"/>
              <a:t> </a:t>
            </a:r>
          </a:p>
        </p:txBody>
      </p:sp>
      <p:sp>
        <p:nvSpPr>
          <p:cNvPr id="4" name="Slide Number Placeholder 3">
            <a:extLst>
              <a:ext uri="{FF2B5EF4-FFF2-40B4-BE49-F238E27FC236}">
                <a16:creationId xmlns:a16="http://schemas.microsoft.com/office/drawing/2014/main" id="{644C8AB5-A7B7-CAEE-2EC0-27C5E6BD9EE8}"/>
              </a:ext>
            </a:extLst>
          </p:cNvPr>
          <p:cNvSpPr>
            <a:spLocks noGrp="1"/>
          </p:cNvSpPr>
          <p:nvPr>
            <p:ph type="sldNum" sz="quarter" idx="5"/>
          </p:nvPr>
        </p:nvSpPr>
        <p:spPr/>
        <p:txBody>
          <a:bodyPr/>
          <a:lstStyle/>
          <a:p>
            <a:fld id="{A3FADD39-AB8A-4278-99D9-40CD8D745BA1}" type="slidenum">
              <a:rPr lang="en-US" smtClean="0"/>
              <a:t>7</a:t>
            </a:fld>
            <a:endParaRPr lang="en-US"/>
          </a:p>
        </p:txBody>
      </p:sp>
    </p:spTree>
    <p:extLst>
      <p:ext uri="{BB962C8B-B14F-4D97-AF65-F5344CB8AC3E}">
        <p14:creationId xmlns:p14="http://schemas.microsoft.com/office/powerpoint/2010/main" val="904800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starts to engage the Business Units to try to find out what tools they use every day, in an effort find patterns that then she can use to help them with the changes they request.</a:t>
            </a:r>
          </a:p>
          <a:p>
            <a:r>
              <a:rPr lang="en-US" dirty="0"/>
              <a:t>She observes that many in the </a:t>
            </a:r>
            <a:r>
              <a:rPr lang="en-US" dirty="0" err="1"/>
              <a:t>the</a:t>
            </a:r>
            <a:r>
              <a:rPr lang="en-US" dirty="0"/>
              <a:t> business units are very good Excel users. Many the apps Alexandria created for them had their </a:t>
            </a:r>
            <a:r>
              <a:rPr lang="en-US" dirty="0" err="1"/>
              <a:t>originins</a:t>
            </a:r>
            <a:r>
              <a:rPr lang="en-US" dirty="0"/>
              <a:t> on an Excel file created by business user that then grow into a critical business resource.</a:t>
            </a:r>
          </a:p>
          <a:p>
            <a:r>
              <a:rPr lang="en-US" dirty="0"/>
              <a:t>She learns that some of the requests from the business go to a larger IT team, different from the Development team. This team uses the Microsoft </a:t>
            </a:r>
            <a:r>
              <a:rPr lang="en-US" dirty="0" err="1"/>
              <a:t>PowerPlatform</a:t>
            </a:r>
            <a:r>
              <a:rPr lang="en-US" dirty="0"/>
              <a:t> to build solutions for the business. However, quite a good part of those requests are too complex or fall outside the skills of that team, so the requests get redirected to the Dev Team to be addressed by custom software.</a:t>
            </a:r>
          </a:p>
          <a:p>
            <a:endParaRPr lang="en-US" dirty="0"/>
          </a:p>
        </p:txBody>
      </p:sp>
      <p:sp>
        <p:nvSpPr>
          <p:cNvPr id="4" name="Slide Number Placeholder 3"/>
          <p:cNvSpPr>
            <a:spLocks noGrp="1"/>
          </p:cNvSpPr>
          <p:nvPr>
            <p:ph type="sldNum" sz="quarter" idx="5"/>
          </p:nvPr>
        </p:nvSpPr>
        <p:spPr/>
        <p:txBody>
          <a:bodyPr/>
          <a:lstStyle/>
          <a:p>
            <a:fld id="{A3FADD39-AB8A-4278-99D9-40CD8D745BA1}" type="slidenum">
              <a:rPr lang="en-US" smtClean="0"/>
              <a:t>8</a:t>
            </a:fld>
            <a:endParaRPr lang="en-US"/>
          </a:p>
        </p:txBody>
      </p:sp>
    </p:spTree>
    <p:extLst>
      <p:ext uri="{BB962C8B-B14F-4D97-AF65-F5344CB8AC3E}">
        <p14:creationId xmlns:p14="http://schemas.microsoft.com/office/powerpoint/2010/main" val="1107287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Alexandria starts looking for tools that can assist the business units with coming with solutions to their needs. She finds many applications and </a:t>
            </a:r>
            <a:r>
              <a:rPr lang="en-US" dirty="0" err="1"/>
              <a:t>frmeworks</a:t>
            </a:r>
            <a:r>
              <a:rPr lang="en-US" dirty="0"/>
              <a:t> whose purpose is to define and execute business. </a:t>
            </a:r>
          </a:p>
          <a:p>
            <a:r>
              <a:rPr lang="en-US" dirty="0"/>
              <a:t>A lot of the software out there for business rules is actually pretty mature, with </a:t>
            </a:r>
            <a:r>
              <a:rPr lang="en-US" dirty="0" err="1"/>
              <a:t>frameowkrs</a:t>
            </a:r>
            <a:r>
              <a:rPr lang="en-US" dirty="0"/>
              <a:t> such as Drools, and Camunda’s DNN. However, as good as those tools are, they are not a good fit for her org because most of those tools are Java based and would require the business units to learn new paradigms and syntaxes.</a:t>
            </a:r>
          </a:p>
          <a:p>
            <a:r>
              <a:rPr lang="en-US" dirty="0"/>
              <a:t>Alexandria does find that Microsoft has an Open Source engine for </a:t>
            </a:r>
            <a:r>
              <a:rPr lang="en-US" dirty="0" err="1"/>
              <a:t>.net</a:t>
            </a:r>
            <a:r>
              <a:rPr lang="en-US" dirty="0"/>
              <a:t> for rules. Even though this one is based in </a:t>
            </a:r>
            <a:r>
              <a:rPr lang="en-US" dirty="0" err="1"/>
              <a:t>.net</a:t>
            </a:r>
            <a:r>
              <a:rPr lang="en-US" dirty="0"/>
              <a:t>, the syntax is still a little bit unfamiliar to the business.</a:t>
            </a:r>
          </a:p>
          <a:p>
            <a:r>
              <a:rPr lang="en-US" dirty="0"/>
              <a:t>Another approach she finds is using Windows Workflows as a business friendly to define business logic.</a:t>
            </a:r>
          </a:p>
        </p:txBody>
      </p:sp>
      <p:sp>
        <p:nvSpPr>
          <p:cNvPr id="4" name="Slide Number Placeholder 3"/>
          <p:cNvSpPr>
            <a:spLocks noGrp="1"/>
          </p:cNvSpPr>
          <p:nvPr>
            <p:ph type="sldNum" sz="quarter" idx="5"/>
          </p:nvPr>
        </p:nvSpPr>
        <p:spPr/>
        <p:txBody>
          <a:bodyPr/>
          <a:lstStyle/>
          <a:p>
            <a:fld id="{A3FADD39-AB8A-4278-99D9-40CD8D745BA1}" type="slidenum">
              <a:rPr lang="en-US" smtClean="0"/>
              <a:t>9</a:t>
            </a:fld>
            <a:endParaRPr lang="en-US"/>
          </a:p>
        </p:txBody>
      </p:sp>
    </p:spTree>
    <p:extLst>
      <p:ext uri="{BB962C8B-B14F-4D97-AF65-F5344CB8AC3E}">
        <p14:creationId xmlns:p14="http://schemas.microsoft.com/office/powerpoint/2010/main" val="2463375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Microsoft “</a:t>
            </a:r>
            <a:r>
              <a:rPr lang="en-US" sz="1200" b="0" i="0" kern="1200" dirty="0">
                <a:solidFill>
                  <a:schemeClr val="tx1"/>
                </a:solidFill>
                <a:effectLst/>
                <a:latin typeface="+mn-lt"/>
                <a:ea typeface="+mn-ea"/>
                <a:cs typeface="+mn-cs"/>
              </a:rPr>
              <a:t>It's a general-purpose, strong-typed, declarative, and functional programming language.” (</a:t>
            </a:r>
            <a:r>
              <a:rPr lang="en-US" dirty="0">
                <a:hlinkClick r:id="rId3"/>
              </a:rPr>
              <a:t>Microsoft Power </a:t>
            </a:r>
            <a:r>
              <a:rPr lang="en-US" dirty="0" err="1">
                <a:hlinkClick r:id="rId3"/>
              </a:rPr>
              <a:t>Fx</a:t>
            </a:r>
            <a:r>
              <a:rPr lang="en-US" dirty="0">
                <a:hlinkClick r:id="rId3"/>
              </a:rPr>
              <a:t> overview - Power Platform | Microsoft Learn</a:t>
            </a:r>
            <a:r>
              <a:rPr lang="en-US" dirty="0"/>
              <a:t>)</a:t>
            </a:r>
          </a:p>
          <a:p>
            <a:r>
              <a:rPr lang="en-US" dirty="0"/>
              <a:t>One of the design goals is to have people think of </a:t>
            </a:r>
            <a:r>
              <a:rPr lang="en-US" dirty="0" err="1"/>
              <a:t>PowerFX</a:t>
            </a:r>
            <a:r>
              <a:rPr lang="en-US" dirty="0"/>
              <a:t> as spreadsheets (https://learn.microsoft.com/en-us/power-platform/power-fx/overview#think-spreadsheet )</a:t>
            </a:r>
          </a:p>
        </p:txBody>
      </p:sp>
      <p:sp>
        <p:nvSpPr>
          <p:cNvPr id="4" name="Slide Number Placeholder 3"/>
          <p:cNvSpPr>
            <a:spLocks noGrp="1"/>
          </p:cNvSpPr>
          <p:nvPr>
            <p:ph type="sldNum" sz="quarter" idx="5"/>
          </p:nvPr>
        </p:nvSpPr>
        <p:spPr/>
        <p:txBody>
          <a:bodyPr/>
          <a:lstStyle/>
          <a:p>
            <a:fld id="{A3FADD39-AB8A-4278-99D9-40CD8D745BA1}" type="slidenum">
              <a:rPr lang="en-US" smtClean="0"/>
              <a:t>10</a:t>
            </a:fld>
            <a:endParaRPr lang="en-US"/>
          </a:p>
        </p:txBody>
      </p:sp>
    </p:spTree>
    <p:extLst>
      <p:ext uri="{BB962C8B-B14F-4D97-AF65-F5344CB8AC3E}">
        <p14:creationId xmlns:p14="http://schemas.microsoft.com/office/powerpoint/2010/main" val="3461771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60A75-DE7F-8BA4-1B80-65F17782E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09352-9094-52B0-E533-973BBF225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55E6A-A0F3-8248-17AF-93C63FE906EF}"/>
              </a:ext>
            </a:extLst>
          </p:cNvPr>
          <p:cNvSpPr>
            <a:spLocks noGrp="1"/>
          </p:cNvSpPr>
          <p:nvPr>
            <p:ph type="body" idx="1"/>
          </p:nvPr>
        </p:nvSpPr>
        <p:spPr/>
        <p:txBody>
          <a:bodyPr/>
          <a:lstStyle/>
          <a:p>
            <a:r>
              <a:rPr lang="en-US" dirty="0"/>
              <a:t>Alexandria starts looking for tools that can assist the business units with coming with solutions to their needs. She finds many applications and </a:t>
            </a:r>
            <a:r>
              <a:rPr lang="en-US" dirty="0" err="1"/>
              <a:t>frmeworks</a:t>
            </a:r>
            <a:r>
              <a:rPr lang="en-US" dirty="0"/>
              <a:t> whose purpose is to define and execute business. </a:t>
            </a:r>
          </a:p>
          <a:p>
            <a:r>
              <a:rPr lang="en-US" dirty="0"/>
              <a:t>A lot of the software out there for business rules is actually pretty mature, with </a:t>
            </a:r>
            <a:r>
              <a:rPr lang="en-US" dirty="0" err="1"/>
              <a:t>frameowkrs</a:t>
            </a:r>
            <a:r>
              <a:rPr lang="en-US" dirty="0"/>
              <a:t> such as Drools, and Camunda’s DNN. However, as good as those tools are, they are not a good fit for her org because most of those tools are Java based and would require the business units to learn new paradigms and syntaxes.</a:t>
            </a:r>
          </a:p>
          <a:p>
            <a:r>
              <a:rPr lang="en-US" dirty="0"/>
              <a:t>Alexandria does find that Microsoft has an Open Source engine for </a:t>
            </a:r>
            <a:r>
              <a:rPr lang="en-US" dirty="0" err="1"/>
              <a:t>.net</a:t>
            </a:r>
            <a:r>
              <a:rPr lang="en-US" dirty="0"/>
              <a:t> for rules. Even though this one is based in </a:t>
            </a:r>
            <a:r>
              <a:rPr lang="en-US" dirty="0" err="1"/>
              <a:t>.net</a:t>
            </a:r>
            <a:r>
              <a:rPr lang="en-US" dirty="0"/>
              <a:t>, the syntax is still a little bit unfamiliar to the business.</a:t>
            </a:r>
          </a:p>
          <a:p>
            <a:r>
              <a:rPr lang="en-US" dirty="0"/>
              <a:t>Another approach she finds is using Windows Workflows as a business friendly to define business logic.</a:t>
            </a:r>
          </a:p>
        </p:txBody>
      </p:sp>
      <p:sp>
        <p:nvSpPr>
          <p:cNvPr id="4" name="Slide Number Placeholder 3">
            <a:extLst>
              <a:ext uri="{FF2B5EF4-FFF2-40B4-BE49-F238E27FC236}">
                <a16:creationId xmlns:a16="http://schemas.microsoft.com/office/drawing/2014/main" id="{647AB185-B3FD-D7E8-7409-C76A358FD8A2}"/>
              </a:ext>
            </a:extLst>
          </p:cNvPr>
          <p:cNvSpPr>
            <a:spLocks noGrp="1"/>
          </p:cNvSpPr>
          <p:nvPr>
            <p:ph type="sldNum" sz="quarter" idx="5"/>
          </p:nvPr>
        </p:nvSpPr>
        <p:spPr/>
        <p:txBody>
          <a:bodyPr/>
          <a:lstStyle/>
          <a:p>
            <a:fld id="{A3FADD39-AB8A-4278-99D9-40CD8D745BA1}" type="slidenum">
              <a:rPr lang="en-US" smtClean="0"/>
              <a:t>11</a:t>
            </a:fld>
            <a:endParaRPr lang="en-US"/>
          </a:p>
        </p:txBody>
      </p:sp>
    </p:spTree>
    <p:extLst>
      <p:ext uri="{BB962C8B-B14F-4D97-AF65-F5344CB8AC3E}">
        <p14:creationId xmlns:p14="http://schemas.microsoft.com/office/powerpoint/2010/main" val="2983418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this can be combined with .NET. Let’s first talk about “why”. As mentioned before, </a:t>
            </a:r>
            <a:r>
              <a:rPr lang="en-US" dirty="0" err="1"/>
              <a:t>PowerFx</a:t>
            </a:r>
            <a:r>
              <a:rPr lang="en-US" dirty="0"/>
              <a:t> has a </a:t>
            </a:r>
            <a:r>
              <a:rPr lang="en-US" dirty="0" err="1"/>
              <a:t>popuatr</a:t>
            </a:r>
            <a:r>
              <a:rPr lang="en-US" dirty="0"/>
              <a:t> </a:t>
            </a:r>
            <a:r>
              <a:rPr lang="en-US" dirty="0" err="1"/>
              <a:t>sytbnax</a:t>
            </a:r>
            <a:r>
              <a:rPr lang="en-US" dirty="0"/>
              <a:t> with other </a:t>
            </a:r>
            <a:r>
              <a:rPr lang="en-US" dirty="0" err="1"/>
              <a:t>Microsfot</a:t>
            </a:r>
            <a:r>
              <a:rPr lang="en-US" dirty="0"/>
              <a:t> Products out there using it. So the amount of existing knowledge out there makes existing answers available to those who use it. </a:t>
            </a:r>
          </a:p>
          <a:p>
            <a:endParaRPr lang="en-US" dirty="0"/>
          </a:p>
          <a:p>
            <a:r>
              <a:rPr lang="en-US" dirty="0"/>
              <a:t>Adding it to </a:t>
            </a:r>
            <a:r>
              <a:rPr lang="en-US" dirty="0" err="1"/>
              <a:t>.net</a:t>
            </a:r>
            <a:r>
              <a:rPr lang="en-US" dirty="0"/>
              <a:t> will allow you to add logic without potentially having to recompile or redeploy your app because it is an interpreter engine. Although, in real world enterprise scenarios you would still want those </a:t>
            </a:r>
            <a:r>
              <a:rPr lang="en-US" dirty="0" err="1"/>
              <a:t>PowerFx</a:t>
            </a:r>
            <a:r>
              <a:rPr lang="en-US" dirty="0"/>
              <a:t> pieces to go through some sort of lower to upper environment </a:t>
            </a:r>
            <a:r>
              <a:rPr lang="en-US" dirty="0" err="1"/>
              <a:t>lifexyle</a:t>
            </a:r>
            <a:r>
              <a:rPr lang="en-US" dirty="0"/>
              <a:t>, although the </a:t>
            </a:r>
            <a:r>
              <a:rPr lang="en-US" dirty="0" err="1"/>
              <a:t>lifecyle</a:t>
            </a:r>
            <a:r>
              <a:rPr lang="en-US" dirty="0"/>
              <a:t> would be faster and not require a full re-deployment.</a:t>
            </a:r>
          </a:p>
          <a:p>
            <a:endParaRPr lang="en-US" dirty="0"/>
          </a:p>
          <a:p>
            <a:r>
              <a:rPr lang="en-US" dirty="0"/>
              <a:t>The syntax of the language looks familiar to the business side if the business side is familiar </a:t>
            </a:r>
            <a:r>
              <a:rPr lang="en-US"/>
              <a:t>with Excel.</a:t>
            </a:r>
            <a:endParaRPr lang="en-US" dirty="0"/>
          </a:p>
        </p:txBody>
      </p:sp>
      <p:sp>
        <p:nvSpPr>
          <p:cNvPr id="4" name="Slide Number Placeholder 3"/>
          <p:cNvSpPr>
            <a:spLocks noGrp="1"/>
          </p:cNvSpPr>
          <p:nvPr>
            <p:ph type="sldNum" sz="quarter" idx="5"/>
          </p:nvPr>
        </p:nvSpPr>
        <p:spPr/>
        <p:txBody>
          <a:bodyPr/>
          <a:lstStyle/>
          <a:p>
            <a:fld id="{A3FADD39-AB8A-4278-99D9-40CD8D745BA1}" type="slidenum">
              <a:rPr lang="en-US" smtClean="0"/>
              <a:t>13</a:t>
            </a:fld>
            <a:endParaRPr lang="en-US"/>
          </a:p>
        </p:txBody>
      </p:sp>
    </p:spTree>
    <p:extLst>
      <p:ext uri="{BB962C8B-B14F-4D97-AF65-F5344CB8AC3E}">
        <p14:creationId xmlns:p14="http://schemas.microsoft.com/office/powerpoint/2010/main" val="3640277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Microsoft provides an open-source repo with the .NET </a:t>
            </a:r>
            <a:r>
              <a:rPr lang="en-US" dirty="0" err="1">
                <a:latin typeface="Calibri"/>
                <a:ea typeface="Calibri"/>
                <a:cs typeface="Calibri"/>
              </a:rPr>
              <a:t>PowerFX</a:t>
            </a:r>
            <a:r>
              <a:rPr lang="en-US" dirty="0">
                <a:latin typeface="Calibri"/>
                <a:ea typeface="Calibri"/>
                <a:cs typeface="Calibri"/>
              </a:rPr>
              <a:t> interpreter. There is also another repo with examples. Going back to our </a:t>
            </a:r>
            <a:r>
              <a:rPr lang="en-US" dirty="0" err="1">
                <a:latin typeface="Calibri"/>
                <a:ea typeface="Calibri"/>
                <a:cs typeface="Calibri"/>
              </a:rPr>
              <a:t>pretent</a:t>
            </a:r>
            <a:r>
              <a:rPr lang="en-US" dirty="0">
                <a:latin typeface="Calibri"/>
                <a:ea typeface="Calibri"/>
                <a:cs typeface="Calibri"/>
              </a:rPr>
              <a:t> story, Alexandria and her team looked for quick start guide or some other minimal tutorial in the sites but could not find any. What they had to do was to look a that examples and learn from the sample repo how to setup and use </a:t>
            </a:r>
            <a:r>
              <a:rPr lang="en-US" dirty="0" err="1">
                <a:latin typeface="Calibri"/>
                <a:ea typeface="Calibri"/>
                <a:cs typeface="Calibri"/>
              </a:rPr>
              <a:t>PowerFX</a:t>
            </a:r>
            <a:r>
              <a:rPr lang="en-US" dirty="0">
                <a:latin typeface="Calibri"/>
                <a:ea typeface="Calibri"/>
                <a:cs typeface="Calibri"/>
              </a:rPr>
              <a:t> in .NET. The 3rd link here is a minimal console app with a few methods showcasing the most minimal way of using the Interpreter in </a:t>
            </a:r>
            <a:r>
              <a:rPr lang="en-US" dirty="0" err="1">
                <a:latin typeface="Calibri"/>
                <a:ea typeface="Calibri"/>
                <a:cs typeface="Calibri"/>
              </a:rPr>
              <a:t>.net</a:t>
            </a:r>
            <a:r>
              <a:rPr lang="en-US" dirty="0">
                <a:latin typeface="Calibri"/>
                <a:ea typeface="Calibri"/>
                <a:cs typeface="Calibri"/>
              </a:rPr>
              <a:t>.</a:t>
            </a:r>
          </a:p>
        </p:txBody>
      </p:sp>
      <p:sp>
        <p:nvSpPr>
          <p:cNvPr id="4" name="Slide Number Placeholder 3"/>
          <p:cNvSpPr>
            <a:spLocks noGrp="1"/>
          </p:cNvSpPr>
          <p:nvPr>
            <p:ph type="sldNum" sz="quarter" idx="5"/>
          </p:nvPr>
        </p:nvSpPr>
        <p:spPr/>
        <p:txBody>
          <a:bodyPr/>
          <a:lstStyle/>
          <a:p>
            <a:fld id="{A3FADD39-AB8A-4278-99D9-40CD8D745BA1}" type="slidenum">
              <a:rPr lang="en-US" smtClean="0"/>
              <a:t>15</a:t>
            </a:fld>
            <a:endParaRPr lang="en-US"/>
          </a:p>
        </p:txBody>
      </p:sp>
    </p:spTree>
    <p:extLst>
      <p:ext uri="{BB962C8B-B14F-4D97-AF65-F5344CB8AC3E}">
        <p14:creationId xmlns:p14="http://schemas.microsoft.com/office/powerpoint/2010/main" val="1178829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The first step is to add a reference to the </a:t>
            </a:r>
            <a:r>
              <a:rPr lang="en-US" dirty="0" err="1">
                <a:latin typeface="Calibri"/>
                <a:ea typeface="Calibri"/>
                <a:cs typeface="Calibri"/>
              </a:rPr>
              <a:t>nuget</a:t>
            </a:r>
            <a:r>
              <a:rPr lang="en-US" dirty="0">
                <a:latin typeface="Calibri"/>
                <a:ea typeface="Calibri"/>
                <a:cs typeface="Calibri"/>
              </a:rPr>
              <a:t> package in your project.</a:t>
            </a:r>
          </a:p>
          <a:p>
            <a:r>
              <a:rPr lang="en-US" dirty="0">
                <a:latin typeface="Calibri"/>
                <a:ea typeface="Calibri"/>
                <a:cs typeface="Calibri"/>
              </a:rPr>
              <a:t>Then, you can create an engine object of type Engine. You can pass options to it, and we will see later that this step allows us to expose </a:t>
            </a:r>
            <a:r>
              <a:rPr lang="en-US" dirty="0" err="1">
                <a:latin typeface="Calibri"/>
                <a:ea typeface="Calibri"/>
                <a:cs typeface="Calibri"/>
              </a:rPr>
              <a:t>.net</a:t>
            </a:r>
            <a:r>
              <a:rPr lang="en-US" dirty="0">
                <a:latin typeface="Calibri"/>
                <a:ea typeface="Calibri"/>
                <a:cs typeface="Calibri"/>
              </a:rPr>
              <a:t> methods to the interpreter, but for now you can see that it requires no params.</a:t>
            </a:r>
          </a:p>
          <a:p>
            <a:endParaRPr lang="en-US" dirty="0">
              <a:latin typeface="Calibri"/>
              <a:ea typeface="Calibri"/>
              <a:cs typeface="Calibri"/>
            </a:endParaRPr>
          </a:p>
          <a:p>
            <a:r>
              <a:rPr lang="en-US" dirty="0">
                <a:latin typeface="Calibri"/>
                <a:ea typeface="Calibri"/>
                <a:cs typeface="Calibri"/>
              </a:rPr>
              <a:t>The next step is to define the variables and formulas. </a:t>
            </a:r>
          </a:p>
          <a:p>
            <a:endParaRPr lang="en-US" dirty="0">
              <a:latin typeface="Calibri"/>
              <a:ea typeface="Calibri"/>
              <a:cs typeface="Calibri"/>
            </a:endParaRPr>
          </a:p>
          <a:p>
            <a:r>
              <a:rPr lang="en-US" dirty="0">
                <a:latin typeface="Calibri"/>
                <a:ea typeface="Calibri"/>
                <a:cs typeface="Calibri"/>
              </a:rPr>
              <a:t>Variables are like variables in other languages, where the </a:t>
            </a:r>
            <a:r>
              <a:rPr lang="en-US" dirty="0" err="1">
                <a:latin typeface="Calibri"/>
                <a:ea typeface="Calibri"/>
                <a:cs typeface="Calibri"/>
              </a:rPr>
              <a:t>vriable</a:t>
            </a:r>
            <a:r>
              <a:rPr lang="en-US" dirty="0">
                <a:latin typeface="Calibri"/>
                <a:ea typeface="Calibri"/>
                <a:cs typeface="Calibri"/>
              </a:rPr>
              <a:t> has a type and the value of the variable can change through the lifetime of the interpreter engine. As you can see here, we define a variable and we are able to change its value later on. The type of the variable needs to be defined and the type of the type is </a:t>
            </a:r>
            <a:r>
              <a:rPr lang="en-US" dirty="0" err="1">
                <a:latin typeface="Calibri"/>
                <a:ea typeface="Calibri"/>
                <a:cs typeface="Calibri"/>
              </a:rPr>
              <a:t>PowerFX</a:t>
            </a:r>
            <a:r>
              <a:rPr lang="en-US" dirty="0">
                <a:latin typeface="Calibri"/>
                <a:ea typeface="Calibri"/>
                <a:cs typeface="Calibri"/>
              </a:rPr>
              <a:t> type.</a:t>
            </a:r>
          </a:p>
          <a:p>
            <a:endParaRPr lang="en-US" dirty="0">
              <a:latin typeface="Calibri"/>
              <a:ea typeface="Calibri"/>
              <a:cs typeface="Calibri"/>
            </a:endParaRPr>
          </a:p>
          <a:p>
            <a:r>
              <a:rPr lang="en-US" dirty="0">
                <a:latin typeface="Calibri"/>
                <a:ea typeface="Calibri"/>
                <a:cs typeface="Calibri"/>
              </a:rPr>
              <a:t>Formulas are basically named expressions. For each formula you give a name and then the valid </a:t>
            </a:r>
            <a:r>
              <a:rPr lang="en-US" dirty="0" err="1">
                <a:latin typeface="Calibri"/>
                <a:ea typeface="Calibri"/>
                <a:cs typeface="Calibri"/>
              </a:rPr>
              <a:t>PowerFX</a:t>
            </a:r>
            <a:r>
              <a:rPr lang="en-US" dirty="0">
                <a:latin typeface="Calibri"/>
                <a:ea typeface="Calibri"/>
                <a:cs typeface="Calibri"/>
              </a:rPr>
              <a:t> expression that represents the formula. The string is a regular </a:t>
            </a:r>
            <a:r>
              <a:rPr lang="en-US" dirty="0" err="1">
                <a:latin typeface="Calibri"/>
                <a:ea typeface="Calibri"/>
                <a:cs typeface="Calibri"/>
              </a:rPr>
              <a:t>.net</a:t>
            </a:r>
            <a:r>
              <a:rPr lang="en-US" dirty="0">
                <a:latin typeface="Calibri"/>
                <a:ea typeface="Calibri"/>
                <a:cs typeface="Calibri"/>
              </a:rPr>
              <a:t> string, but the contents of the string need to have a correct </a:t>
            </a:r>
            <a:r>
              <a:rPr lang="en-US" dirty="0" err="1">
                <a:latin typeface="Calibri"/>
                <a:ea typeface="Calibri"/>
                <a:cs typeface="Calibri"/>
              </a:rPr>
              <a:t>PowerFx</a:t>
            </a:r>
            <a:r>
              <a:rPr lang="en-US" dirty="0">
                <a:latin typeface="Calibri"/>
                <a:ea typeface="Calibri"/>
                <a:cs typeface="Calibri"/>
              </a:rPr>
              <a:t> syntax. Valid syntax includes defining records, tables, </a:t>
            </a:r>
            <a:r>
              <a:rPr lang="en-US" dirty="0" err="1">
                <a:latin typeface="Calibri"/>
                <a:ea typeface="Calibri"/>
                <a:cs typeface="Calibri"/>
              </a:rPr>
              <a:t>PowerFx</a:t>
            </a:r>
            <a:r>
              <a:rPr lang="en-US" dirty="0">
                <a:latin typeface="Calibri"/>
                <a:ea typeface="Calibri"/>
                <a:cs typeface="Calibri"/>
              </a:rPr>
              <a:t> collection functions, etc. Notice there is no compile time check for the syntax and there is no error when you define a formula with a wrong syntax. At the time of calling "</a:t>
            </a:r>
            <a:r>
              <a:rPr lang="en-US" dirty="0" err="1">
                <a:latin typeface="Calibri"/>
                <a:ea typeface="Calibri"/>
                <a:cs typeface="Calibri"/>
              </a:rPr>
              <a:t>SetFormula</a:t>
            </a:r>
            <a:r>
              <a:rPr lang="en-US" dirty="0">
                <a:latin typeface="Calibri"/>
                <a:ea typeface="Calibri"/>
                <a:cs typeface="Calibri"/>
              </a:rPr>
              <a:t>", syntax is verified. Invalid expressions will throw an error (show example). Please note what PowerApps could support might not necessarily be what the .NET </a:t>
            </a:r>
            <a:r>
              <a:rPr lang="en-US" dirty="0" err="1">
                <a:latin typeface="Calibri"/>
                <a:ea typeface="Calibri"/>
                <a:cs typeface="Calibri"/>
              </a:rPr>
              <a:t>inptreter</a:t>
            </a:r>
            <a:r>
              <a:rPr lang="en-US" dirty="0">
                <a:latin typeface="Calibri"/>
                <a:ea typeface="Calibri"/>
                <a:cs typeface="Calibri"/>
              </a:rPr>
              <a:t> can support. Microsoft is building a formal definition document in their repo here, but it is a work in progress as they are taking the PowerApps docs and generalizing them.</a:t>
            </a:r>
          </a:p>
          <a:p>
            <a:endParaRPr lang="en-US" dirty="0">
              <a:latin typeface="Calibri"/>
              <a:ea typeface="Calibri"/>
              <a:cs typeface="Calibri"/>
            </a:endParaRPr>
          </a:p>
          <a:p>
            <a:r>
              <a:rPr lang="en-US" dirty="0">
                <a:latin typeface="Calibri"/>
                <a:ea typeface="Calibri"/>
                <a:cs typeface="Calibri"/>
              </a:rPr>
              <a:t>Once you have the formulas defined, in order to evaluate them and get their value into the </a:t>
            </a:r>
            <a:r>
              <a:rPr lang="en-US" dirty="0" err="1">
                <a:latin typeface="Calibri"/>
                <a:ea typeface="Calibri"/>
                <a:cs typeface="Calibri"/>
              </a:rPr>
              <a:t>.net</a:t>
            </a:r>
            <a:r>
              <a:rPr lang="en-US" dirty="0">
                <a:latin typeface="Calibri"/>
                <a:ea typeface="Calibri"/>
                <a:cs typeface="Calibri"/>
              </a:rPr>
              <a:t> world, you need to call one of the evaluate methods in the engine. Notice there is a version for async, we will talk about that later. You can also call "</a:t>
            </a:r>
            <a:r>
              <a:rPr lang="en-US" dirty="0" err="1">
                <a:latin typeface="Calibri"/>
                <a:ea typeface="Calibri"/>
                <a:cs typeface="Calibri"/>
              </a:rPr>
              <a:t>GetFormulaValue</a:t>
            </a:r>
            <a:r>
              <a:rPr lang="en-US" dirty="0">
                <a:latin typeface="Calibri"/>
                <a:ea typeface="Calibri"/>
                <a:cs typeface="Calibri"/>
              </a:rPr>
              <a:t>“. The value returned by the Evaluate methods are a special </a:t>
            </a:r>
            <a:r>
              <a:rPr lang="en-US" dirty="0" err="1">
                <a:latin typeface="Calibri"/>
                <a:ea typeface="Calibri"/>
                <a:cs typeface="Calibri"/>
              </a:rPr>
              <a:t>PowerFX</a:t>
            </a:r>
            <a:r>
              <a:rPr lang="en-US" dirty="0">
                <a:latin typeface="Calibri"/>
                <a:ea typeface="Calibri"/>
                <a:cs typeface="Calibri"/>
              </a:rPr>
              <a:t> value. You can interrogate this value to find out what </a:t>
            </a:r>
            <a:r>
              <a:rPr lang="en-US" dirty="0" err="1">
                <a:latin typeface="Calibri"/>
                <a:ea typeface="Calibri"/>
                <a:cs typeface="Calibri"/>
              </a:rPr>
              <a:t>PowerFX</a:t>
            </a:r>
            <a:r>
              <a:rPr lang="en-US" dirty="0">
                <a:latin typeface="Calibri"/>
                <a:ea typeface="Calibri"/>
                <a:cs typeface="Calibri"/>
              </a:rPr>
              <a:t> </a:t>
            </a:r>
            <a:r>
              <a:rPr lang="en-US" dirty="0" err="1">
                <a:latin typeface="Calibri"/>
                <a:ea typeface="Calibri"/>
                <a:cs typeface="Calibri"/>
              </a:rPr>
              <a:t>tyupe</a:t>
            </a:r>
            <a:r>
              <a:rPr lang="en-US" dirty="0">
                <a:latin typeface="Calibri"/>
                <a:ea typeface="Calibri"/>
                <a:cs typeface="Calibri"/>
              </a:rPr>
              <a:t> it is. You can also convert it to a generic .NET object type and do something like “</a:t>
            </a:r>
            <a:r>
              <a:rPr lang="en-US" dirty="0" err="1">
                <a:latin typeface="Calibri"/>
                <a:ea typeface="Calibri"/>
                <a:cs typeface="Calibri"/>
              </a:rPr>
              <a:t>ToString</a:t>
            </a:r>
            <a:r>
              <a:rPr lang="en-US" dirty="0">
                <a:latin typeface="Calibri"/>
                <a:ea typeface="Calibri"/>
                <a:cs typeface="Calibri"/>
              </a:rPr>
              <a:t>()” to get its textual </a:t>
            </a:r>
            <a:r>
              <a:rPr lang="en-US" dirty="0" err="1">
                <a:latin typeface="Calibri"/>
                <a:ea typeface="Calibri"/>
                <a:cs typeface="Calibri"/>
              </a:rPr>
              <a:t>representaion</a:t>
            </a:r>
            <a:r>
              <a:rPr lang="en-US" dirty="0">
                <a:latin typeface="Calibri"/>
                <a:ea typeface="Calibri"/>
                <a:cs typeface="Calibri"/>
              </a:rPr>
              <a:t>. You can use </a:t>
            </a:r>
            <a:r>
              <a:rPr lang="en-US" dirty="0" err="1">
                <a:latin typeface="Calibri"/>
                <a:ea typeface="Calibri"/>
                <a:cs typeface="Calibri"/>
              </a:rPr>
              <a:t>c#</a:t>
            </a:r>
            <a:r>
              <a:rPr lang="en-US" dirty="0">
                <a:latin typeface="Calibri"/>
                <a:ea typeface="Calibri"/>
                <a:cs typeface="Calibri"/>
              </a:rPr>
              <a:t> pattern matching to get the </a:t>
            </a:r>
            <a:r>
              <a:rPr lang="en-US" dirty="0" err="1">
                <a:latin typeface="Calibri"/>
                <a:ea typeface="Calibri"/>
                <a:cs typeface="Calibri"/>
              </a:rPr>
              <a:t>PowerFX</a:t>
            </a:r>
            <a:r>
              <a:rPr lang="en-US" dirty="0">
                <a:latin typeface="Calibri"/>
                <a:ea typeface="Calibri"/>
                <a:cs typeface="Calibri"/>
              </a:rPr>
              <a:t> type of the result object from the evaluation.</a:t>
            </a:r>
            <a:endParaRPr lang="en-US" dirty="0"/>
          </a:p>
          <a:p>
            <a:endParaRPr lang="en-US" dirty="0">
              <a:latin typeface="Calibri"/>
              <a:ea typeface="Calibri"/>
              <a:cs typeface="Calibri"/>
            </a:endParaRPr>
          </a:p>
          <a:p>
            <a:r>
              <a:rPr lang="en-US" dirty="0">
                <a:latin typeface="Calibri"/>
                <a:ea typeface="Calibri"/>
                <a:cs typeface="Calibri"/>
              </a:rPr>
              <a:t>I wish I could tell you that the engine does no execute the formulas until evaluation, but as we will see when we </a:t>
            </a:r>
            <a:r>
              <a:rPr lang="en-US" dirty="0" err="1">
                <a:latin typeface="Calibri"/>
                <a:ea typeface="Calibri"/>
                <a:cs typeface="Calibri"/>
              </a:rPr>
              <a:t>defne</a:t>
            </a:r>
            <a:r>
              <a:rPr lang="en-US" dirty="0">
                <a:latin typeface="Calibri"/>
                <a:ea typeface="Calibri"/>
                <a:cs typeface="Calibri"/>
              </a:rPr>
              <a:t> our own methods, there is some sort of execution during the </a:t>
            </a:r>
            <a:r>
              <a:rPr lang="en-US" dirty="0" err="1">
                <a:latin typeface="Calibri"/>
                <a:ea typeface="Calibri"/>
                <a:cs typeface="Calibri"/>
              </a:rPr>
              <a:t>setForumal</a:t>
            </a:r>
            <a:r>
              <a:rPr lang="en-US" dirty="0">
                <a:latin typeface="Calibri"/>
                <a:ea typeface="Calibri"/>
                <a:cs typeface="Calibri"/>
              </a:rPr>
              <a:t> method.</a:t>
            </a: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3FADD39-AB8A-4278-99D9-40CD8D745BA1}" type="slidenum">
              <a:rPr lang="en-US" smtClean="0"/>
              <a:t>16</a:t>
            </a:fld>
            <a:endParaRPr lang="en-US"/>
          </a:p>
        </p:txBody>
      </p:sp>
    </p:spTree>
    <p:extLst>
      <p:ext uri="{BB962C8B-B14F-4D97-AF65-F5344CB8AC3E}">
        <p14:creationId xmlns:p14="http://schemas.microsoft.com/office/powerpoint/2010/main" val="2025954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pretend the BU of </a:t>
            </a:r>
            <a:r>
              <a:rPr lang="en-US" dirty="0" err="1"/>
              <a:t>Pizzas’R”Us</a:t>
            </a:r>
            <a:r>
              <a:rPr lang="en-US" dirty="0"/>
              <a:t> comes back to Alexandria and say: “ this is really awesome that we can write the business rules in </a:t>
            </a:r>
            <a:r>
              <a:rPr lang="en-US" dirty="0" err="1"/>
              <a:t>powerfx</a:t>
            </a:r>
            <a:r>
              <a:rPr lang="en-US" dirty="0"/>
              <a:t>, but we would like to do things that the </a:t>
            </a:r>
            <a:r>
              <a:rPr lang="en-US" dirty="0" err="1"/>
              <a:t>PowerFX</a:t>
            </a:r>
            <a:r>
              <a:rPr lang="en-US" dirty="0"/>
              <a:t> version you gave us cannot do Business days math”. Alexandria then jumps into research mode to see if there is a way to extend the Interpreter with custom </a:t>
            </a:r>
            <a:r>
              <a:rPr lang="en-US" dirty="0" err="1"/>
              <a:t>PowerFX</a:t>
            </a:r>
            <a:r>
              <a:rPr lang="en-US" dirty="0"/>
              <a:t> functions implemented in </a:t>
            </a:r>
            <a:r>
              <a:rPr lang="en-US" dirty="0" err="1"/>
              <a:t>.net</a:t>
            </a:r>
            <a:r>
              <a:rPr lang="en-US" dirty="0"/>
              <a:t>. With the help of co-pilot, Her </a:t>
            </a:r>
            <a:r>
              <a:rPr lang="en-US" dirty="0" err="1"/>
              <a:t>reasearch</a:t>
            </a:r>
            <a:r>
              <a:rPr lang="en-US" dirty="0"/>
              <a:t> of the repo takes her to the some samples in the official repo. Using those examples, she figures out the following:</a:t>
            </a:r>
          </a:p>
          <a:p>
            <a:endParaRPr lang="en-US" dirty="0"/>
          </a:p>
          <a:p>
            <a:r>
              <a:rPr lang="en-US" dirty="0"/>
              <a:t>To create a custom function for the interpreter, we must:</a:t>
            </a:r>
          </a:p>
          <a:p>
            <a:endParaRPr lang="en-US" dirty="0"/>
          </a:p>
          <a:p>
            <a:pPr marL="228600" indent="-228600">
              <a:buAutoNum type="arabicPeriod"/>
            </a:pPr>
            <a:r>
              <a:rPr lang="en-US" dirty="0"/>
              <a:t>Create a new class that derives from </a:t>
            </a:r>
            <a:r>
              <a:rPr lang="en-US" dirty="0" err="1"/>
              <a:t>ReflectionFunction</a:t>
            </a:r>
            <a:endParaRPr lang="en-US" dirty="0"/>
          </a:p>
          <a:p>
            <a:pPr marL="228600" indent="-228600">
              <a:buAutoNum type="arabicPeriod"/>
            </a:pPr>
            <a:r>
              <a:rPr lang="en-US" dirty="0"/>
              <a:t>Need to pass to the base constructor: name of the function, return type, types of parameters.</a:t>
            </a:r>
          </a:p>
          <a:p>
            <a:pPr marL="685800" lvl="1" indent="-228600">
              <a:buAutoNum type="arabicPeriod"/>
            </a:pPr>
            <a:r>
              <a:rPr lang="en-US" dirty="0"/>
              <a:t>In this particular example, for our business days add function, we pass the name, the return type of date, and we pass an array with 2 elements specifying that our first parameter is of type date, and the second parameter is a number.</a:t>
            </a:r>
          </a:p>
          <a:p>
            <a:pPr marL="228600" lvl="0" indent="-228600">
              <a:buAutoNum type="arabicPeriod"/>
            </a:pPr>
            <a:r>
              <a:rPr lang="en-US" dirty="0"/>
              <a:t>Need to implement the “Execute” method. Notice this is not an override method. The engine will look it up by magic name. The method must return the </a:t>
            </a:r>
            <a:r>
              <a:rPr lang="en-US" dirty="0" err="1"/>
              <a:t>generica</a:t>
            </a:r>
            <a:r>
              <a:rPr lang="en-US" dirty="0"/>
              <a:t> </a:t>
            </a:r>
            <a:r>
              <a:rPr lang="en-US" dirty="0" err="1"/>
              <a:t>FormulaValue</a:t>
            </a:r>
            <a:r>
              <a:rPr lang="en-US" dirty="0"/>
              <a:t> type. The parameters must be the parameters your functions takes, in this case our starting date and the number of days to add.</a:t>
            </a:r>
          </a:p>
          <a:p>
            <a:pPr marL="228600" lvl="0" indent="-228600">
              <a:buAutoNum type="arabicPeriod"/>
            </a:pPr>
            <a:r>
              <a:rPr lang="en-US" dirty="0"/>
              <a:t>Within the method we can convert the parameters to </a:t>
            </a:r>
            <a:r>
              <a:rPr lang="en-US" dirty="0" err="1"/>
              <a:t>.net</a:t>
            </a:r>
            <a:r>
              <a:rPr lang="en-US" dirty="0"/>
              <a:t> values using “.Value”. In the body you can then do whatever you need to do in the </a:t>
            </a:r>
            <a:r>
              <a:rPr lang="en-US" dirty="0" err="1"/>
              <a:t>.net</a:t>
            </a:r>
            <a:r>
              <a:rPr lang="en-US" dirty="0"/>
              <a:t> world to come up with the return value, in this case, we are writing normal </a:t>
            </a:r>
            <a:r>
              <a:rPr lang="en-US" dirty="0" err="1"/>
              <a:t>.net</a:t>
            </a:r>
            <a:r>
              <a:rPr lang="en-US" dirty="0"/>
              <a:t> code to add business days to a date using a popular </a:t>
            </a:r>
            <a:r>
              <a:rPr lang="en-US" dirty="0" err="1"/>
              <a:t>nuget</a:t>
            </a:r>
            <a:r>
              <a:rPr lang="en-US" dirty="0"/>
              <a:t> library for holidays.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To return the value, use </a:t>
            </a:r>
            <a:r>
              <a:rPr lang="en-US" sz="1200" b="0" kern="1200" dirty="0" err="1">
                <a:solidFill>
                  <a:schemeClr val="tx1"/>
                </a:solidFill>
                <a:effectLst/>
                <a:latin typeface="+mn-lt"/>
                <a:ea typeface="+mn-ea"/>
                <a:cs typeface="+mn-cs"/>
              </a:rPr>
              <a:t>FormulaValue.New</a:t>
            </a:r>
            <a:r>
              <a:rPr lang="en-US" sz="1200" b="0" kern="1200" dirty="0">
                <a:solidFill>
                  <a:schemeClr val="tx1"/>
                </a:solidFill>
                <a:effectLst/>
                <a:latin typeface="+mn-lt"/>
                <a:ea typeface="+mn-ea"/>
                <a:cs typeface="+mn-cs"/>
              </a:rPr>
              <a:t> to convert the </a:t>
            </a:r>
            <a:r>
              <a:rPr lang="en-US" sz="1200" b="0" kern="1200" dirty="0" err="1">
                <a:solidFill>
                  <a:schemeClr val="tx1"/>
                </a:solidFill>
                <a:effectLst/>
                <a:latin typeface="+mn-lt"/>
                <a:ea typeface="+mn-ea"/>
                <a:cs typeface="+mn-cs"/>
              </a:rPr>
              <a:t>.net</a:t>
            </a:r>
            <a:r>
              <a:rPr lang="en-US" sz="1200" b="0" kern="1200" dirty="0">
                <a:solidFill>
                  <a:schemeClr val="tx1"/>
                </a:solidFill>
                <a:effectLst/>
                <a:latin typeface="+mn-lt"/>
                <a:ea typeface="+mn-ea"/>
                <a:cs typeface="+mn-cs"/>
              </a:rPr>
              <a:t> value to an object the Interpreter can use.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We must tell the interpreter engine about the function by registering the function using </a:t>
            </a:r>
            <a:r>
              <a:rPr lang="en-US" sz="1200" b="0" kern="1200" dirty="0" err="1">
                <a:solidFill>
                  <a:schemeClr val="tx1"/>
                </a:solidFill>
                <a:effectLst/>
                <a:latin typeface="+mn-lt"/>
                <a:ea typeface="+mn-ea"/>
                <a:cs typeface="+mn-cs"/>
              </a:rPr>
              <a:t>AddFunction</a:t>
            </a:r>
            <a:r>
              <a:rPr lang="en-US" sz="1200" b="0" kern="1200" dirty="0">
                <a:solidFill>
                  <a:schemeClr val="tx1"/>
                </a:solidFill>
                <a:effectLst/>
                <a:latin typeface="+mn-lt"/>
                <a:ea typeface="+mn-ea"/>
                <a:cs typeface="+mn-cs"/>
              </a:rPr>
              <a:t> and passing an instance of the custom class.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Then we can call that function as if it were a regular </a:t>
            </a:r>
            <a:r>
              <a:rPr lang="en-US" sz="1200" b="0" kern="1200" dirty="0" err="1">
                <a:solidFill>
                  <a:schemeClr val="tx1"/>
                </a:solidFill>
                <a:effectLst/>
                <a:latin typeface="+mn-lt"/>
                <a:ea typeface="+mn-ea"/>
                <a:cs typeface="+mn-cs"/>
              </a:rPr>
              <a:t>PowerFX</a:t>
            </a:r>
            <a:r>
              <a:rPr lang="en-US" sz="1200" b="0" kern="1200" dirty="0">
                <a:solidFill>
                  <a:schemeClr val="tx1"/>
                </a:solidFill>
                <a:effectLst/>
                <a:latin typeface="+mn-lt"/>
                <a:ea typeface="+mn-ea"/>
                <a:cs typeface="+mn-cs"/>
              </a:rPr>
              <a:t> function.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You can also, define functions that return a record. For example, Alexandira needs to create a function that takes in a string and parses the string into a well known structure in Pizza r us. The structure contains the id of the customer, the year the customer was onboarded and their unique id in the ERP system. E.g.: “juan#1998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Same as before, but use Untyped type for the return value parameter in the base constructor.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In the body of the execute method we build the record:</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Use </a:t>
            </a:r>
            <a:r>
              <a:rPr lang="en-US" sz="1200" b="0" kern="1200" dirty="0" err="1">
                <a:solidFill>
                  <a:schemeClr val="tx1"/>
                </a:solidFill>
                <a:effectLst/>
                <a:latin typeface="+mn-lt"/>
                <a:ea typeface="+mn-ea"/>
                <a:cs typeface="+mn-cs"/>
              </a:rPr>
              <a:t>NamedValue</a:t>
            </a:r>
            <a:r>
              <a:rPr lang="en-US" sz="1200" b="0" kern="1200" dirty="0">
                <a:solidFill>
                  <a:schemeClr val="tx1"/>
                </a:solidFill>
                <a:effectLst/>
                <a:latin typeface="+mn-lt"/>
                <a:ea typeface="+mn-ea"/>
                <a:cs typeface="+mn-cs"/>
              </a:rPr>
              <a:t> objects for the property-value pairs</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Use </a:t>
            </a:r>
            <a:r>
              <a:rPr lang="en-US" sz="1200" b="0" kern="1200" dirty="0" err="1">
                <a:solidFill>
                  <a:schemeClr val="tx1"/>
                </a:solidFill>
                <a:effectLst/>
                <a:latin typeface="+mn-lt"/>
                <a:ea typeface="+mn-ea"/>
                <a:cs typeface="+mn-cs"/>
              </a:rPr>
              <a:t>FormulaValue.NewRecordFromFields</a:t>
            </a:r>
            <a:r>
              <a:rPr lang="en-US" sz="1200" b="0" kern="1200" dirty="0">
                <a:solidFill>
                  <a:schemeClr val="tx1"/>
                </a:solidFill>
                <a:effectLst/>
                <a:latin typeface="+mn-lt"/>
                <a:ea typeface="+mn-ea"/>
                <a:cs typeface="+mn-cs"/>
              </a:rPr>
              <a:t> to build the record object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As you can see, we can call that function from our </a:t>
            </a:r>
            <a:r>
              <a:rPr lang="en-US" sz="1200" b="0" kern="1200" dirty="0" err="1">
                <a:solidFill>
                  <a:schemeClr val="tx1"/>
                </a:solidFill>
                <a:effectLst/>
                <a:latin typeface="+mn-lt"/>
                <a:ea typeface="+mn-ea"/>
                <a:cs typeface="+mn-cs"/>
              </a:rPr>
              <a:t>powerfx</a:t>
            </a:r>
            <a:r>
              <a:rPr lang="en-US" sz="1200" b="0" kern="1200" dirty="0">
                <a:solidFill>
                  <a:schemeClr val="tx1"/>
                </a:solidFill>
                <a:effectLst/>
                <a:latin typeface="+mn-lt"/>
                <a:ea typeface="+mn-ea"/>
                <a:cs typeface="+mn-cs"/>
              </a:rPr>
              <a:t> code to get the record. We can access the properties of the record from </a:t>
            </a:r>
            <a:r>
              <a:rPr lang="en-US" sz="1200" b="0" kern="1200" dirty="0" err="1">
                <a:solidFill>
                  <a:schemeClr val="tx1"/>
                </a:solidFill>
                <a:effectLst/>
                <a:latin typeface="+mn-lt"/>
                <a:ea typeface="+mn-ea"/>
                <a:cs typeface="+mn-cs"/>
              </a:rPr>
              <a:t>.net</a:t>
            </a:r>
            <a:r>
              <a:rPr lang="en-US" sz="1200" b="0" kern="1200" dirty="0">
                <a:solidFill>
                  <a:schemeClr val="tx1"/>
                </a:solidFill>
                <a:effectLst/>
                <a:latin typeface="+mn-lt"/>
                <a:ea typeface="+mn-ea"/>
                <a:cs typeface="+mn-cs"/>
              </a:rPr>
              <a:t> by treating the result of the evaluation as an </a:t>
            </a:r>
            <a:r>
              <a:rPr lang="en-US" sz="1200" b="0" kern="1200" dirty="0" err="1">
                <a:solidFill>
                  <a:schemeClr val="tx1"/>
                </a:solidFill>
                <a:effectLst/>
                <a:latin typeface="+mn-lt"/>
                <a:ea typeface="+mn-ea"/>
                <a:cs typeface="+mn-cs"/>
              </a:rPr>
              <a:t>Expando</a:t>
            </a:r>
            <a:r>
              <a:rPr lang="en-US" sz="1200" b="0" kern="1200" dirty="0">
                <a:solidFill>
                  <a:schemeClr val="tx1"/>
                </a:solidFill>
                <a:effectLst/>
                <a:latin typeface="+mn-lt"/>
                <a:ea typeface="+mn-ea"/>
                <a:cs typeface="+mn-cs"/>
              </a:rPr>
              <a:t> object, we can </a:t>
            </a:r>
            <a:r>
              <a:rPr lang="en-US" sz="1200" b="0" kern="1200" dirty="0" err="1">
                <a:solidFill>
                  <a:schemeClr val="tx1"/>
                </a:solidFill>
                <a:effectLst/>
                <a:latin typeface="+mn-lt"/>
                <a:ea typeface="+mn-ea"/>
                <a:cs typeface="+mn-cs"/>
              </a:rPr>
              <a:t>can</a:t>
            </a:r>
            <a:r>
              <a:rPr lang="en-US" sz="1200" b="0" kern="1200" dirty="0">
                <a:solidFill>
                  <a:schemeClr val="tx1"/>
                </a:solidFill>
                <a:effectLst/>
                <a:latin typeface="+mn-lt"/>
                <a:ea typeface="+mn-ea"/>
                <a:cs typeface="+mn-cs"/>
              </a:rPr>
              <a:t> translate its properties to a </a:t>
            </a:r>
            <a:r>
              <a:rPr lang="en-US" sz="1200" b="0" kern="1200" dirty="0" err="1">
                <a:solidFill>
                  <a:schemeClr val="tx1"/>
                </a:solidFill>
                <a:effectLst/>
                <a:latin typeface="+mn-lt"/>
                <a:ea typeface="+mn-ea"/>
                <a:cs typeface="+mn-cs"/>
              </a:rPr>
              <a:t>.net</a:t>
            </a:r>
            <a:r>
              <a:rPr lang="en-US" sz="1200" b="0" kern="1200" dirty="0">
                <a:solidFill>
                  <a:schemeClr val="tx1"/>
                </a:solidFill>
                <a:effectLst/>
                <a:latin typeface="+mn-lt"/>
                <a:ea typeface="+mn-ea"/>
                <a:cs typeface="+mn-cs"/>
              </a:rPr>
              <a:t>  dictionary.</a:t>
            </a:r>
          </a:p>
          <a:p>
            <a:pPr marL="685800" marR="0" lvl="1"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Lastly, you can also have functions that return a table.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As before, we need to derive from </a:t>
            </a:r>
            <a:r>
              <a:rPr lang="en-US" sz="1200" b="0" kern="1200" dirty="0" err="1">
                <a:solidFill>
                  <a:schemeClr val="tx1"/>
                </a:solidFill>
                <a:effectLst/>
                <a:latin typeface="+mn-lt"/>
                <a:ea typeface="+mn-ea"/>
                <a:cs typeface="+mn-cs"/>
              </a:rPr>
              <a:t>ReflectionFunction</a:t>
            </a:r>
            <a:r>
              <a:rPr lang="en-US" sz="1200" b="0" kern="1200" dirty="0">
                <a:solidFill>
                  <a:schemeClr val="tx1"/>
                </a:solidFill>
                <a:effectLst/>
                <a:latin typeface="+mn-lt"/>
                <a:ea typeface="+mn-ea"/>
                <a:cs typeface="+mn-cs"/>
              </a:rPr>
              <a:t>, but we need to define the type of our table using </a:t>
            </a:r>
            <a:r>
              <a:rPr lang="en-US" sz="1200" b="0" kern="1200" dirty="0" err="1">
                <a:solidFill>
                  <a:schemeClr val="tx1"/>
                </a:solidFill>
                <a:effectLst/>
                <a:latin typeface="+mn-lt"/>
                <a:ea typeface="+mn-ea"/>
                <a:cs typeface="+mn-cs"/>
              </a:rPr>
              <a:t>TableType.Empty</a:t>
            </a:r>
            <a:r>
              <a:rPr lang="en-US" sz="1200" b="0" kern="1200" dirty="0">
                <a:solidFill>
                  <a:schemeClr val="tx1"/>
                </a:solidFill>
                <a:effectLst/>
                <a:latin typeface="+mn-lt"/>
                <a:ea typeface="+mn-ea"/>
                <a:cs typeface="+mn-cs"/>
              </a:rPr>
              <a:t>() and then call Add(…) to add each of the columns our returned table supports.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We need to then define the record type for each row.</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In the execute method, we build each row as a record and then add it to a list.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We can take that list and use </a:t>
            </a:r>
            <a:r>
              <a:rPr lang="en-US" sz="1200" kern="1200" dirty="0" err="1">
                <a:solidFill>
                  <a:schemeClr val="tx1"/>
                </a:solidFill>
                <a:effectLst/>
                <a:latin typeface="+mn-lt"/>
                <a:ea typeface="+mn-ea"/>
                <a:cs typeface="+mn-cs"/>
              </a:rPr>
              <a:t>FormulaValue.NewTable</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RecordType</a:t>
            </a:r>
            <a:r>
              <a:rPr lang="en-US" sz="1200" kern="1200" dirty="0">
                <a:solidFill>
                  <a:schemeClr val="tx1"/>
                </a:solidFill>
                <a:effectLst/>
                <a:latin typeface="+mn-lt"/>
                <a:ea typeface="+mn-ea"/>
                <a:cs typeface="+mn-cs"/>
              </a:rPr>
              <a:t>, rows) to build the table value.</a:t>
            </a:r>
            <a:endParaRPr lang="en-US"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kern="1200" dirty="0">
                <a:solidFill>
                  <a:schemeClr val="tx1"/>
                </a:solidFill>
                <a:effectLst/>
                <a:latin typeface="+mn-lt"/>
                <a:ea typeface="+mn-ea"/>
                <a:cs typeface="+mn-cs"/>
              </a:rPr>
              <a:t>You can also define your own </a:t>
            </a:r>
            <a:r>
              <a:rPr lang="en-US" sz="1200" b="0" kern="1200" dirty="0" err="1">
                <a:solidFill>
                  <a:schemeClr val="tx1"/>
                </a:solidFill>
                <a:effectLst/>
                <a:latin typeface="+mn-lt"/>
                <a:ea typeface="+mn-ea"/>
                <a:cs typeface="+mn-cs"/>
              </a:rPr>
              <a:t>TableValue</a:t>
            </a:r>
            <a:r>
              <a:rPr lang="en-US" sz="1200" b="0" kern="1200" dirty="0">
                <a:solidFill>
                  <a:schemeClr val="tx1"/>
                </a:solidFill>
                <a:effectLst/>
                <a:latin typeface="+mn-lt"/>
                <a:ea typeface="+mn-ea"/>
                <a:cs typeface="+mn-cs"/>
              </a:rPr>
              <a:t> type, but that is out of scope of this session.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So far he have seen functions that operate </a:t>
            </a:r>
            <a:r>
              <a:rPr lang="en-US" sz="1200" b="0" kern="1200" dirty="0" err="1">
                <a:solidFill>
                  <a:schemeClr val="tx1"/>
                </a:solidFill>
                <a:effectLst/>
                <a:latin typeface="+mn-lt"/>
                <a:ea typeface="+mn-ea"/>
                <a:cs typeface="+mn-cs"/>
              </a:rPr>
              <a:t>synchrounsly</a:t>
            </a:r>
            <a:r>
              <a:rPr lang="en-US" sz="1200" b="0" kern="1200" dirty="0">
                <a:solidFill>
                  <a:schemeClr val="tx1"/>
                </a:solidFill>
                <a:effectLst/>
                <a:latin typeface="+mn-lt"/>
                <a:ea typeface="+mn-ea"/>
                <a:cs typeface="+mn-cs"/>
              </a:rPr>
              <a:t>, what if you need async? First, I would like to give a general warning that is based on my experience and the learning points from others: when it comes to business logic, if your code (whether is C# </a:t>
            </a:r>
            <a:r>
              <a:rPr lang="en-US" sz="1200" b="0" kern="1200">
                <a:solidFill>
                  <a:schemeClr val="tx1"/>
                </a:solidFill>
                <a:effectLst/>
                <a:latin typeface="+mn-lt"/>
                <a:ea typeface="+mn-ea"/>
                <a:cs typeface="+mn-cs"/>
              </a:rPr>
              <a:t>or something </a:t>
            </a:r>
            <a:r>
              <a:rPr lang="en-US" sz="1200" b="0" kern="1200" dirty="0">
                <a:solidFill>
                  <a:schemeClr val="tx1"/>
                </a:solidFill>
                <a:effectLst/>
                <a:latin typeface="+mn-lt"/>
                <a:ea typeface="+mn-ea"/>
                <a:cs typeface="+mn-cs"/>
              </a:rPr>
              <a:t>else) needs async operations, you might be introducing something that does not belong to the business logic of your app. Async code </a:t>
            </a:r>
            <a:r>
              <a:rPr lang="en-US" sz="1200" b="0" i="1" kern="1200" dirty="0" err="1">
                <a:solidFill>
                  <a:schemeClr val="tx1"/>
                </a:solidFill>
                <a:effectLst/>
                <a:latin typeface="+mn-lt"/>
                <a:ea typeface="+mn-ea"/>
                <a:cs typeface="+mn-cs"/>
              </a:rPr>
              <a:t>susually</a:t>
            </a:r>
            <a:r>
              <a:rPr lang="en-US" sz="1200" b="0" i="0" kern="1200" dirty="0">
                <a:solidFill>
                  <a:schemeClr val="tx1"/>
                </a:solidFill>
                <a:effectLst/>
                <a:latin typeface="+mn-lt"/>
                <a:ea typeface="+mn-ea"/>
                <a:cs typeface="+mn-cs"/>
              </a:rPr>
              <a:t> (but not </a:t>
            </a:r>
            <a:r>
              <a:rPr lang="en-US" sz="1200" b="0" i="0" kern="1200" dirty="0" err="1">
                <a:solidFill>
                  <a:schemeClr val="tx1"/>
                </a:solidFill>
                <a:effectLst/>
                <a:latin typeface="+mn-lt"/>
                <a:ea typeface="+mn-ea"/>
                <a:cs typeface="+mn-cs"/>
              </a:rPr>
              <a:t>walways</a:t>
            </a:r>
            <a:r>
              <a:rPr lang="en-US" sz="1200" b="0" i="0" kern="1200" dirty="0">
                <a:solidFill>
                  <a:schemeClr val="tx1"/>
                </a:solidFill>
                <a:effectLst/>
                <a:latin typeface="+mn-lt"/>
                <a:ea typeface="+mn-ea"/>
                <a:cs typeface="+mn-cs"/>
              </a:rPr>
              <a:t>) mean trying to reach to an external dependency. We want our business code to be </a:t>
            </a:r>
            <a:r>
              <a:rPr lang="en-US" sz="1200" b="0" i="0" kern="1200" dirty="0" err="1">
                <a:solidFill>
                  <a:schemeClr val="tx1"/>
                </a:solidFill>
                <a:effectLst/>
                <a:latin typeface="+mn-lt"/>
                <a:ea typeface="+mn-ea"/>
                <a:cs typeface="+mn-cs"/>
              </a:rPr>
              <a:t>dependcy</a:t>
            </a:r>
            <a:r>
              <a:rPr lang="en-US" sz="1200" b="0" i="0" kern="1200" dirty="0">
                <a:solidFill>
                  <a:schemeClr val="tx1"/>
                </a:solidFill>
                <a:effectLst/>
                <a:latin typeface="+mn-lt"/>
                <a:ea typeface="+mn-ea"/>
                <a:cs typeface="+mn-cs"/>
              </a:rPr>
              <a:t> free in the sense that any input comes from a </a:t>
            </a:r>
            <a:r>
              <a:rPr lang="en-US" sz="1200" b="0" i="0" kern="1200" dirty="0" err="1">
                <a:solidFill>
                  <a:schemeClr val="tx1"/>
                </a:solidFill>
                <a:effectLst/>
                <a:latin typeface="+mn-lt"/>
                <a:ea typeface="+mn-ea"/>
                <a:cs typeface="+mn-cs"/>
              </a:rPr>
              <a:t>regularinput</a:t>
            </a:r>
            <a:r>
              <a:rPr lang="en-US" sz="1200" b="0" i="0" kern="1200" dirty="0">
                <a:solidFill>
                  <a:schemeClr val="tx1"/>
                </a:solidFill>
                <a:effectLst/>
                <a:latin typeface="+mn-lt"/>
                <a:ea typeface="+mn-ea"/>
                <a:cs typeface="+mn-cs"/>
              </a:rPr>
              <a:t> parameter (the data itself could be obtained </a:t>
            </a:r>
            <a:r>
              <a:rPr lang="en-US" sz="1200" b="0" i="0" kern="1200" dirty="0" err="1">
                <a:solidFill>
                  <a:schemeClr val="tx1"/>
                </a:solidFill>
                <a:effectLst/>
                <a:latin typeface="+mn-lt"/>
                <a:ea typeface="+mn-ea"/>
                <a:cs typeface="+mn-cs"/>
              </a:rPr>
              <a:t>asyncrhounously</a:t>
            </a:r>
            <a:r>
              <a:rPr lang="en-US" sz="1200" b="0" i="0" kern="1200" dirty="0">
                <a:solidFill>
                  <a:schemeClr val="tx1"/>
                </a:solidFill>
                <a:effectLst/>
                <a:latin typeface="+mn-lt"/>
                <a:ea typeface="+mn-ea"/>
                <a:cs typeface="+mn-cs"/>
              </a:rPr>
              <a:t> before the business logic in invoked), same thing with outputs, we do not want our business logic to be the one writing to for example a </a:t>
            </a:r>
            <a:r>
              <a:rPr lang="en-US" sz="1200" b="0" i="0" kern="1200" dirty="0" err="1">
                <a:solidFill>
                  <a:schemeClr val="tx1"/>
                </a:solidFill>
                <a:effectLst/>
                <a:latin typeface="+mn-lt"/>
                <a:ea typeface="+mn-ea"/>
                <a:cs typeface="+mn-cs"/>
              </a:rPr>
              <a:t>db</a:t>
            </a:r>
            <a:r>
              <a:rPr lang="en-US" sz="1200" b="0" i="0" kern="1200" dirty="0">
                <a:solidFill>
                  <a:schemeClr val="tx1"/>
                </a:solidFill>
                <a:effectLst/>
                <a:latin typeface="+mn-lt"/>
                <a:ea typeface="+mn-ea"/>
                <a:cs typeface="+mn-cs"/>
              </a:rPr>
              <a:t> or file but rather to prepare the data for whatever integration code is the one putting that final form of the data into a </a:t>
            </a:r>
            <a:r>
              <a:rPr lang="en-US" sz="1200" b="0" i="0" kern="1200" dirty="0" err="1">
                <a:solidFill>
                  <a:schemeClr val="tx1"/>
                </a:solidFill>
                <a:effectLst/>
                <a:latin typeface="+mn-lt"/>
                <a:ea typeface="+mn-ea"/>
                <a:cs typeface="+mn-cs"/>
              </a:rPr>
              <a:t>db</a:t>
            </a:r>
            <a:r>
              <a:rPr lang="en-US" sz="1200" b="0" i="0" kern="1200" dirty="0">
                <a:solidFill>
                  <a:schemeClr val="tx1"/>
                </a:solidFill>
                <a:effectLst/>
                <a:latin typeface="+mn-lt"/>
                <a:ea typeface="+mn-ea"/>
                <a:cs typeface="+mn-cs"/>
              </a:rPr>
              <a:t> or file.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To make </a:t>
            </a:r>
            <a:r>
              <a:rPr lang="en-US" sz="1200" b="0" i="0" kern="1200" dirty="0" err="1">
                <a:solidFill>
                  <a:schemeClr val="tx1"/>
                </a:solidFill>
                <a:effectLst/>
                <a:latin typeface="+mn-lt"/>
                <a:ea typeface="+mn-ea"/>
                <a:cs typeface="+mn-cs"/>
              </a:rPr>
              <a:t>aysnc</a:t>
            </a:r>
            <a:r>
              <a:rPr lang="en-US" sz="1200" b="0" i="0" kern="1200" dirty="0">
                <a:solidFill>
                  <a:schemeClr val="tx1"/>
                </a:solidFill>
                <a:effectLst/>
                <a:latin typeface="+mn-lt"/>
                <a:ea typeface="+mn-ea"/>
                <a:cs typeface="+mn-cs"/>
              </a:rPr>
              <a:t> functions, you just need to modify the Execute method to return </a:t>
            </a:r>
            <a:r>
              <a:rPr lang="en-US" sz="1200" b="0" kern="1200" dirty="0">
                <a:solidFill>
                  <a:schemeClr val="tx1"/>
                </a:solidFill>
                <a:effectLst/>
                <a:latin typeface="+mn-lt"/>
                <a:ea typeface="+mn-ea"/>
                <a:cs typeface="+mn-cs"/>
              </a:rPr>
              <a:t>Task&lt;</a:t>
            </a:r>
            <a:r>
              <a:rPr lang="en-US" sz="1200" b="0" kern="1200" dirty="0" err="1">
                <a:solidFill>
                  <a:schemeClr val="tx1"/>
                </a:solidFill>
                <a:effectLst/>
                <a:latin typeface="+mn-lt"/>
                <a:ea typeface="+mn-ea"/>
                <a:cs typeface="+mn-cs"/>
              </a:rPr>
              <a:t>FormulaValue</a:t>
            </a:r>
            <a:r>
              <a:rPr lang="en-US" sz="1200" b="0" kern="1200" dirty="0">
                <a:solidFill>
                  <a:schemeClr val="tx1"/>
                </a:solidFill>
                <a:effectLst/>
                <a:latin typeface="+mn-lt"/>
                <a:ea typeface="+mn-ea"/>
                <a:cs typeface="+mn-cs"/>
              </a:rPr>
              <a:t>&gt; and must accept a cancellation token as your last param. Within the </a:t>
            </a:r>
            <a:r>
              <a:rPr lang="en-US" sz="1200" b="0" kern="1200" dirty="0" err="1">
                <a:solidFill>
                  <a:schemeClr val="tx1"/>
                </a:solidFill>
                <a:effectLst/>
                <a:latin typeface="+mn-lt"/>
                <a:ea typeface="+mn-ea"/>
                <a:cs typeface="+mn-cs"/>
              </a:rPr>
              <a:t>bodyof</a:t>
            </a:r>
            <a:r>
              <a:rPr lang="en-US" sz="1200" b="0" kern="1200" dirty="0">
                <a:solidFill>
                  <a:schemeClr val="tx1"/>
                </a:solidFill>
                <a:effectLst/>
                <a:latin typeface="+mn-lt"/>
                <a:ea typeface="+mn-ea"/>
                <a:cs typeface="+mn-cs"/>
              </a:rPr>
              <a:t> the </a:t>
            </a:r>
            <a:r>
              <a:rPr lang="en-US" sz="1200" b="0" kern="1200" dirty="0" err="1">
                <a:solidFill>
                  <a:schemeClr val="tx1"/>
                </a:solidFill>
                <a:effectLst/>
                <a:latin typeface="+mn-lt"/>
                <a:ea typeface="+mn-ea"/>
                <a:cs typeface="+mn-cs"/>
              </a:rPr>
              <a:t>metodyou</a:t>
            </a:r>
            <a:r>
              <a:rPr lang="en-US" sz="1200" b="0" kern="1200" dirty="0">
                <a:solidFill>
                  <a:schemeClr val="tx1"/>
                </a:solidFill>
                <a:effectLst/>
                <a:latin typeface="+mn-lt"/>
                <a:ea typeface="+mn-ea"/>
                <a:cs typeface="+mn-cs"/>
              </a:rPr>
              <a:t> can then do whatever normal async </a:t>
            </a:r>
            <a:r>
              <a:rPr lang="en-US" sz="1200" b="0" kern="1200" dirty="0" err="1">
                <a:solidFill>
                  <a:schemeClr val="tx1"/>
                </a:solidFill>
                <a:effectLst/>
                <a:latin typeface="+mn-lt"/>
                <a:ea typeface="+mn-ea"/>
                <a:cs typeface="+mn-cs"/>
              </a:rPr>
              <a:t>ogic</a:t>
            </a:r>
            <a:r>
              <a:rPr lang="en-US" sz="1200" b="0" kern="1200" dirty="0">
                <a:solidFill>
                  <a:schemeClr val="tx1"/>
                </a:solidFill>
                <a:effectLst/>
                <a:latin typeface="+mn-lt"/>
                <a:ea typeface="+mn-ea"/>
                <a:cs typeface="+mn-cs"/>
              </a:rPr>
              <a:t> you need. In this example, Alexandria is calling an </a:t>
            </a:r>
            <a:r>
              <a:rPr lang="en-US" sz="1200" b="0" kern="1200" dirty="0" err="1">
                <a:solidFill>
                  <a:schemeClr val="tx1"/>
                </a:solidFill>
                <a:effectLst/>
                <a:latin typeface="+mn-lt"/>
                <a:ea typeface="+mn-ea"/>
                <a:cs typeface="+mn-cs"/>
              </a:rPr>
              <a:t>ML.Net</a:t>
            </a:r>
            <a:r>
              <a:rPr lang="en-US" sz="1200" b="0" kern="1200" dirty="0">
                <a:solidFill>
                  <a:schemeClr val="tx1"/>
                </a:solidFill>
                <a:effectLst/>
                <a:latin typeface="+mn-lt"/>
                <a:ea typeface="+mn-ea"/>
                <a:cs typeface="+mn-cs"/>
              </a:rPr>
              <a:t> model to determine the sentiment of a string.</a:t>
            </a:r>
          </a:p>
        </p:txBody>
      </p:sp>
      <p:sp>
        <p:nvSpPr>
          <p:cNvPr id="4" name="Slide Number Placeholder 3"/>
          <p:cNvSpPr>
            <a:spLocks noGrp="1"/>
          </p:cNvSpPr>
          <p:nvPr>
            <p:ph type="sldNum" sz="quarter" idx="5"/>
          </p:nvPr>
        </p:nvSpPr>
        <p:spPr/>
        <p:txBody>
          <a:bodyPr/>
          <a:lstStyle/>
          <a:p>
            <a:fld id="{A3FADD39-AB8A-4278-99D9-40CD8D745BA1}" type="slidenum">
              <a:rPr lang="en-US" smtClean="0"/>
              <a:t>18</a:t>
            </a:fld>
            <a:endParaRPr lang="en-US"/>
          </a:p>
        </p:txBody>
      </p:sp>
    </p:spTree>
    <p:extLst>
      <p:ext uri="{BB962C8B-B14F-4D97-AF65-F5344CB8AC3E}">
        <p14:creationId xmlns:p14="http://schemas.microsoft.com/office/powerpoint/2010/main" val="2157664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DD3684-6E52-4019-8D61-A9B0BAC0DBD6}" type="slidenum">
              <a:rPr lang="en-US" smtClean="0"/>
              <a:t>21</a:t>
            </a:fld>
            <a:endParaRPr lang="en-US"/>
          </a:p>
        </p:txBody>
      </p:sp>
    </p:spTree>
    <p:extLst>
      <p:ext uri="{BB962C8B-B14F-4D97-AF65-F5344CB8AC3E}">
        <p14:creationId xmlns:p14="http://schemas.microsoft.com/office/powerpoint/2010/main" val="2242484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DD3684-6E52-4019-8D61-A9B0BAC0DBD6}" type="slidenum">
              <a:rPr lang="en-US" smtClean="0"/>
              <a:t>22</a:t>
            </a:fld>
            <a:endParaRPr lang="en-US"/>
          </a:p>
        </p:txBody>
      </p:sp>
    </p:spTree>
    <p:extLst>
      <p:ext uri="{BB962C8B-B14F-4D97-AF65-F5344CB8AC3E}">
        <p14:creationId xmlns:p14="http://schemas.microsoft.com/office/powerpoint/2010/main" val="3638521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44F30-FCFD-6FED-2EBB-AD17AE608A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FF4D4E-099C-45CC-C16A-8E28C1C16B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9E1FA2-FED2-8B6C-F85C-78EE58CB483C}"/>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5" name="Footer Placeholder 4">
            <a:extLst>
              <a:ext uri="{FF2B5EF4-FFF2-40B4-BE49-F238E27FC236}">
                <a16:creationId xmlns:a16="http://schemas.microsoft.com/office/drawing/2014/main" id="{B192957A-104E-CBDE-EA16-70248BCCB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260B4-04BE-A453-A4E0-F69ADFA30204}"/>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4111745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FB4D8-42DC-EEF7-176D-A07E334B66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AB53E4-DE9D-630C-4AEE-7302D47DE1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AE9B9B-00EF-11B9-B2B2-B8A754A042E7}"/>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5" name="Footer Placeholder 4">
            <a:extLst>
              <a:ext uri="{FF2B5EF4-FFF2-40B4-BE49-F238E27FC236}">
                <a16:creationId xmlns:a16="http://schemas.microsoft.com/office/drawing/2014/main" id="{B72D7114-D045-BB7D-8068-78FDB7C04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CFEA2-507A-CC40-06AA-CF17163D8393}"/>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135204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16FD8-A283-88D8-444A-9616E66D9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786F1C-2591-237A-C81A-5E17D72DE4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733CBB-B80B-0F22-22FC-E22C04297266}"/>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5" name="Footer Placeholder 4">
            <a:extLst>
              <a:ext uri="{FF2B5EF4-FFF2-40B4-BE49-F238E27FC236}">
                <a16:creationId xmlns:a16="http://schemas.microsoft.com/office/drawing/2014/main" id="{C5941BA8-AD9C-1FA7-8EF8-702BF3DFE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674F37-39E2-85B7-504C-923079FBFC1B}"/>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207690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6F68-AD81-3D6C-44B5-4BEC89B196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410551-026F-C761-CCD6-8001C491F5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442424-F87B-F474-6926-54ED5F62BF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2D9BF2-C027-0AB4-2E5A-E05FA647AA9A}"/>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6" name="Footer Placeholder 5">
            <a:extLst>
              <a:ext uri="{FF2B5EF4-FFF2-40B4-BE49-F238E27FC236}">
                <a16:creationId xmlns:a16="http://schemas.microsoft.com/office/drawing/2014/main" id="{2F1D65C2-6464-EE59-B202-5982A240D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F53B88-7925-EAFE-A752-E4F0582DF3A4}"/>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3532521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6086-82B2-DAD4-C530-0BA44A7227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75D6B5-CD47-3BD2-4F02-E93C3EFF42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A5E3D2-FE7F-936C-D3A4-DC078F791A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B60DFD-857F-B790-A31A-7E3E7F8105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EE82F2-D85C-390C-8A4A-44DAC8C65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CF2388-CD0A-86B5-46D0-7837328030B1}"/>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8" name="Footer Placeholder 7">
            <a:extLst>
              <a:ext uri="{FF2B5EF4-FFF2-40B4-BE49-F238E27FC236}">
                <a16:creationId xmlns:a16="http://schemas.microsoft.com/office/drawing/2014/main" id="{81E98FF8-0CF1-9C7E-2BD9-777545F534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734FE2-DB0D-2751-0485-AEA728E771CF}"/>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8582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17937-3241-60F2-438F-CF04AFBF75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FB4BBF-4B69-03D9-B6B8-AEE72060EF4E}"/>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4" name="Footer Placeholder 3">
            <a:extLst>
              <a:ext uri="{FF2B5EF4-FFF2-40B4-BE49-F238E27FC236}">
                <a16:creationId xmlns:a16="http://schemas.microsoft.com/office/drawing/2014/main" id="{7657FD13-039F-016B-B9F5-A53278FF5E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C1618E-9842-5543-A4FF-DE268435F0E8}"/>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3643351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ABBE2-7FD4-AB13-10F0-61EB11812B6C}"/>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3" name="Footer Placeholder 2">
            <a:extLst>
              <a:ext uri="{FF2B5EF4-FFF2-40B4-BE49-F238E27FC236}">
                <a16:creationId xmlns:a16="http://schemas.microsoft.com/office/drawing/2014/main" id="{689048F8-6FE3-80BA-26C7-A78EC116B4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4A94C4-BB66-5A9B-D1DD-FEDD7F2CBEE8}"/>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132079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1CEF-C9E5-5BC8-FFFF-964E8CD4F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1661EB-94A7-F368-4658-9C3305D1CB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EB5A70-9449-3DC2-8B50-ECF3A7566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3CBF1-B1A4-BEFA-5257-E47E7B4D8FDC}"/>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6" name="Footer Placeholder 5">
            <a:extLst>
              <a:ext uri="{FF2B5EF4-FFF2-40B4-BE49-F238E27FC236}">
                <a16:creationId xmlns:a16="http://schemas.microsoft.com/office/drawing/2014/main" id="{33D3CF65-1D8C-2D35-BFFE-605D844FE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AE98AD-8FAC-DF0D-9CB5-8F17346D15DE}"/>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36836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91E2-244E-9D42-B9B1-2B4BDF995A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8DDC8B-2A73-100B-590C-226AF10123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5E1766-A32E-48C9-1EE2-136D58052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0B619E-E7CC-C315-AA1F-C646B4F04DAD}"/>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6" name="Footer Placeholder 5">
            <a:extLst>
              <a:ext uri="{FF2B5EF4-FFF2-40B4-BE49-F238E27FC236}">
                <a16:creationId xmlns:a16="http://schemas.microsoft.com/office/drawing/2014/main" id="{7E62A376-CDD7-A58B-C80A-07391E7B4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575ED-2AA5-0384-5B48-1849E0723409}"/>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02985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C902-6E9C-A299-4E17-22ED37854E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200B65-C0DE-8DF6-230C-B370F562A6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7BF3E-80D4-7B6A-3452-DD4892551223}"/>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5" name="Footer Placeholder 4">
            <a:extLst>
              <a:ext uri="{FF2B5EF4-FFF2-40B4-BE49-F238E27FC236}">
                <a16:creationId xmlns:a16="http://schemas.microsoft.com/office/drawing/2014/main" id="{AB34E552-028E-256C-343D-692EBE8F6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34BDC-15F4-4A6C-66D7-463E7E5D61BC}"/>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1811045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B81025-4D41-A709-9560-1D68239F27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EC8C33-4E5D-DE2F-4D7F-7CE2B507B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144319-D93A-CF41-DC09-B306CB096AE4}"/>
              </a:ext>
            </a:extLst>
          </p:cNvPr>
          <p:cNvSpPr>
            <a:spLocks noGrp="1"/>
          </p:cNvSpPr>
          <p:nvPr>
            <p:ph type="dt" sz="half" idx="10"/>
          </p:nvPr>
        </p:nvSpPr>
        <p:spPr/>
        <p:txBody>
          <a:bodyPr/>
          <a:lstStyle/>
          <a:p>
            <a:fld id="{5CDD294D-83BB-48C2-9EE9-4B0B0168A414}" type="datetimeFigureOut">
              <a:rPr lang="en-US" smtClean="0"/>
              <a:t>4/10/2026</a:t>
            </a:fld>
            <a:endParaRPr lang="en-US"/>
          </a:p>
        </p:txBody>
      </p:sp>
      <p:sp>
        <p:nvSpPr>
          <p:cNvPr id="5" name="Footer Placeholder 4">
            <a:extLst>
              <a:ext uri="{FF2B5EF4-FFF2-40B4-BE49-F238E27FC236}">
                <a16:creationId xmlns:a16="http://schemas.microsoft.com/office/drawing/2014/main" id="{7AE5480B-8874-AFF9-BEFE-9E64AE9BDA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CB3DB-C855-9DBB-022A-F4875EC57096}"/>
              </a:ext>
            </a:extLst>
          </p:cNvPr>
          <p:cNvSpPr>
            <a:spLocks noGrp="1"/>
          </p:cNvSpPr>
          <p:nvPr>
            <p:ph type="sldNum" sz="quarter" idx="12"/>
          </p:nvPr>
        </p:nvSpPr>
        <p:spPr/>
        <p:txBody>
          <a:bodyPr/>
          <a:lstStyle/>
          <a:p>
            <a:fld id="{EA7AC6CD-6561-4BC4-8692-AA11B8096719}" type="slidenum">
              <a:rPr lang="en-US" smtClean="0"/>
              <a:t>‹#›</a:t>
            </a:fld>
            <a:endParaRPr lang="en-US"/>
          </a:p>
        </p:txBody>
      </p:sp>
    </p:spTree>
    <p:extLst>
      <p:ext uri="{BB962C8B-B14F-4D97-AF65-F5344CB8AC3E}">
        <p14:creationId xmlns:p14="http://schemas.microsoft.com/office/powerpoint/2010/main" val="2000843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F941D8-711F-7156-B956-AF349C1B75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5611BC-9068-E916-7149-AB52295BDD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458FC-54A0-C836-3CDB-D7102BBF25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DD294D-83BB-48C2-9EE9-4B0B0168A414}" type="datetimeFigureOut">
              <a:rPr lang="en-US" smtClean="0"/>
              <a:t>4/10/2026</a:t>
            </a:fld>
            <a:endParaRPr lang="en-US"/>
          </a:p>
        </p:txBody>
      </p:sp>
      <p:sp>
        <p:nvSpPr>
          <p:cNvPr id="5" name="Footer Placeholder 4">
            <a:extLst>
              <a:ext uri="{FF2B5EF4-FFF2-40B4-BE49-F238E27FC236}">
                <a16:creationId xmlns:a16="http://schemas.microsoft.com/office/drawing/2014/main" id="{E0699771-5CC8-9A74-CDB9-8DDC4FBEC0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F2360E-0275-A57A-2874-B6821EDCB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7AC6CD-6561-4BC4-8692-AA11B8096719}" type="slidenum">
              <a:rPr lang="en-US" smtClean="0"/>
              <a:t>‹#›</a:t>
            </a:fld>
            <a:endParaRPr lang="en-US"/>
          </a:p>
        </p:txBody>
      </p:sp>
    </p:spTree>
    <p:extLst>
      <p:ext uri="{BB962C8B-B14F-4D97-AF65-F5344CB8AC3E}">
        <p14:creationId xmlns:p14="http://schemas.microsoft.com/office/powerpoint/2010/main" val="1279558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juantarquino" TargetMode="External"/><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tinyurl.com/PowerFX-NET" TargetMode="External"/><Relationship Id="rId4" Type="http://schemas.openxmlformats.org/officeDocument/2006/relationships/hyperlink" Target="https://jptarqu.blogspot.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microsoft/RulesEngin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power-platform/power-fx/overview"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icrosoft/Power-Fx"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github.com/TheJuanitoLearnsShow/EmbedPowerFX-Session" TargetMode="External"/><Relationship Id="rId4" Type="http://schemas.openxmlformats.org/officeDocument/2006/relationships/hyperlink" Target="https://github.com/microsoft/power-fx-host-sample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icrosoft/Power-Fx/blob/main/docs/overview.md"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860007-79FA-046B-0958-586DF534F2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5D4693-B4CD-8528-E26F-1B15D282D5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B79AB83-CA12-FDB1-1F0B-49FA8EABB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72CD7C-FDDF-B9D1-71F0-1EB5BDF11CF9}"/>
              </a:ext>
            </a:extLst>
          </p:cNvPr>
          <p:cNvSpPr>
            <a:spLocks noGrp="1"/>
          </p:cNvSpPr>
          <p:nvPr>
            <p:ph type="ctrTitle"/>
          </p:nvPr>
        </p:nvSpPr>
        <p:spPr>
          <a:xfrm>
            <a:off x="2066544" y="1911096"/>
            <a:ext cx="8055864" cy="2076651"/>
          </a:xfrm>
        </p:spPr>
        <p:txBody>
          <a:bodyPr anchor="b">
            <a:normAutofit/>
          </a:bodyPr>
          <a:lstStyle/>
          <a:p>
            <a:r>
              <a:rPr lang="en-US" sz="6600" dirty="0">
                <a:solidFill>
                  <a:srgbClr val="FFFFFF"/>
                </a:solidFill>
              </a:rPr>
              <a:t>Embed </a:t>
            </a:r>
            <a:r>
              <a:rPr lang="en-US" sz="6600" dirty="0" err="1">
                <a:solidFill>
                  <a:srgbClr val="FFFFFF"/>
                </a:solidFill>
              </a:rPr>
              <a:t>PowerFX</a:t>
            </a:r>
            <a:r>
              <a:rPr lang="en-US" sz="6600" dirty="0">
                <a:solidFill>
                  <a:srgbClr val="FFFFFF"/>
                </a:solidFill>
              </a:rPr>
              <a:t> in your .NET Apps!</a:t>
            </a:r>
          </a:p>
        </p:txBody>
      </p:sp>
      <p:sp>
        <p:nvSpPr>
          <p:cNvPr id="3" name="Subtitle 2">
            <a:extLst>
              <a:ext uri="{FF2B5EF4-FFF2-40B4-BE49-F238E27FC236}">
                <a16:creationId xmlns:a16="http://schemas.microsoft.com/office/drawing/2014/main" id="{51D3A53A-65D1-E513-6571-80561EB8DF5F}"/>
              </a:ext>
            </a:extLst>
          </p:cNvPr>
          <p:cNvSpPr>
            <a:spLocks noGrp="1"/>
          </p:cNvSpPr>
          <p:nvPr>
            <p:ph type="subTitle" idx="1"/>
          </p:nvPr>
        </p:nvSpPr>
        <p:spPr>
          <a:xfrm>
            <a:off x="3227832" y="4353507"/>
            <a:ext cx="5733288" cy="932688"/>
          </a:xfrm>
        </p:spPr>
        <p:txBody>
          <a:bodyPr>
            <a:normAutofit/>
          </a:bodyPr>
          <a:lstStyle/>
          <a:p>
            <a:endParaRPr lang="en-US">
              <a:solidFill>
                <a:srgbClr val="FFFFFF"/>
              </a:solidFill>
            </a:endParaRPr>
          </a:p>
        </p:txBody>
      </p:sp>
      <p:sp>
        <p:nvSpPr>
          <p:cNvPr id="12" name="sketch line">
            <a:extLst>
              <a:ext uri="{FF2B5EF4-FFF2-40B4-BE49-F238E27FC236}">
                <a16:creationId xmlns:a16="http://schemas.microsoft.com/office/drawing/2014/main" id="{5E95D95A-2FD3-7763-4D09-9468110F2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229868C-0DCF-F23B-B5B6-F16402163C62}"/>
              </a:ext>
            </a:extLst>
          </p:cNvPr>
          <p:cNvPicPr>
            <a:picLocks noChangeAspect="1"/>
          </p:cNvPicPr>
          <p:nvPr/>
        </p:nvPicPr>
        <p:blipFill>
          <a:blip r:embed="rId3"/>
          <a:stretch>
            <a:fillRect/>
          </a:stretch>
        </p:blipFill>
        <p:spPr>
          <a:xfrm>
            <a:off x="10569176" y="5129213"/>
            <a:ext cx="1486752" cy="1486752"/>
          </a:xfrm>
          <a:prstGeom prst="rect">
            <a:avLst/>
          </a:prstGeom>
        </p:spPr>
      </p:pic>
    </p:spTree>
    <p:extLst>
      <p:ext uri="{BB962C8B-B14F-4D97-AF65-F5344CB8AC3E}">
        <p14:creationId xmlns:p14="http://schemas.microsoft.com/office/powerpoint/2010/main" val="2558385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0EC05-4BE2-0827-7AA6-45C23C981DF4}"/>
              </a:ext>
            </a:extLst>
          </p:cNvPr>
          <p:cNvSpPr>
            <a:spLocks noGrp="1"/>
          </p:cNvSpPr>
          <p:nvPr>
            <p:ph type="title"/>
          </p:nvPr>
        </p:nvSpPr>
        <p:spPr>
          <a:xfrm>
            <a:off x="640080" y="329184"/>
            <a:ext cx="6894576" cy="1783080"/>
          </a:xfrm>
        </p:spPr>
        <p:txBody>
          <a:bodyPr anchor="b">
            <a:normAutofit/>
          </a:bodyPr>
          <a:lstStyle/>
          <a:p>
            <a:r>
              <a:rPr lang="en-US" sz="6600" dirty="0"/>
              <a:t>Intro</a:t>
            </a:r>
          </a:p>
        </p:txBody>
      </p:sp>
      <p:sp>
        <p:nvSpPr>
          <p:cNvPr id="3" name="Content Placeholder 2">
            <a:extLst>
              <a:ext uri="{FF2B5EF4-FFF2-40B4-BE49-F238E27FC236}">
                <a16:creationId xmlns:a16="http://schemas.microsoft.com/office/drawing/2014/main" id="{9482E84A-BDAD-C72C-F004-13D054A6BB29}"/>
              </a:ext>
            </a:extLst>
          </p:cNvPr>
          <p:cNvSpPr>
            <a:spLocks noGrp="1"/>
          </p:cNvSpPr>
          <p:nvPr>
            <p:ph idx="1"/>
          </p:nvPr>
        </p:nvSpPr>
        <p:spPr>
          <a:xfrm>
            <a:off x="640080" y="2706624"/>
            <a:ext cx="6894576" cy="3483864"/>
          </a:xfrm>
        </p:spPr>
        <p:txBody>
          <a:bodyPr>
            <a:normAutofit/>
          </a:bodyPr>
          <a:lstStyle/>
          <a:p>
            <a:r>
              <a:rPr lang="en-US" sz="2200" dirty="0"/>
              <a:t>Juan Pablo Tarquino </a:t>
            </a:r>
          </a:p>
          <a:p>
            <a:r>
              <a:rPr lang="en-US" sz="2200" dirty="0"/>
              <a:t>Software Developer with about 20 years of experience</a:t>
            </a:r>
          </a:p>
          <a:p>
            <a:pPr lvl="1"/>
            <a:r>
              <a:rPr lang="en-US" sz="2200" dirty="0"/>
              <a:t>LinkedIn</a:t>
            </a:r>
          </a:p>
          <a:p>
            <a:pPr lvl="2"/>
            <a:r>
              <a:rPr lang="en-US" sz="2200" dirty="0">
                <a:hlinkClick r:id="rId3"/>
              </a:rPr>
              <a:t>https://www.linkedin.com/in/juantarquino</a:t>
            </a:r>
            <a:r>
              <a:rPr lang="en-US" sz="2200" dirty="0"/>
              <a:t> </a:t>
            </a:r>
          </a:p>
          <a:p>
            <a:pPr lvl="1"/>
            <a:r>
              <a:rPr lang="en-US" sz="2200" dirty="0"/>
              <a:t>Blog (not updated often </a:t>
            </a:r>
            <a:r>
              <a:rPr lang="en-US" sz="2200" dirty="0">
                <a:sym typeface="Wingdings" panose="05000000000000000000" pitchFamily="2" charset="2"/>
              </a:rPr>
              <a:t> </a:t>
            </a:r>
            <a:r>
              <a:rPr lang="en-US" sz="2200" dirty="0"/>
              <a:t>)</a:t>
            </a:r>
          </a:p>
          <a:p>
            <a:pPr lvl="2"/>
            <a:r>
              <a:rPr lang="en-US" sz="2200" dirty="0">
                <a:hlinkClick r:id="rId4"/>
              </a:rPr>
              <a:t>https://jptarqu.blogspot.com</a:t>
            </a:r>
            <a:r>
              <a:rPr lang="en-US" sz="2200" dirty="0"/>
              <a:t>  </a:t>
            </a:r>
          </a:p>
          <a:p>
            <a:r>
              <a:rPr lang="en-US" sz="2200" dirty="0"/>
              <a:t>Sample repo and slides for this session: </a:t>
            </a:r>
          </a:p>
          <a:p>
            <a:pPr lvl="1"/>
            <a:r>
              <a:rPr lang="en-US" sz="2200" dirty="0">
                <a:hlinkClick r:id="rId5"/>
              </a:rPr>
              <a:t>https://tinyurl.com/PowerFX-NET</a:t>
            </a:r>
            <a:r>
              <a:rPr lang="en-US" sz="2200" dirty="0"/>
              <a:t> </a:t>
            </a:r>
          </a:p>
        </p:txBody>
      </p:sp>
      <p:pic>
        <p:nvPicPr>
          <p:cNvPr id="7" name="Picture 6">
            <a:extLst>
              <a:ext uri="{FF2B5EF4-FFF2-40B4-BE49-F238E27FC236}">
                <a16:creationId xmlns:a16="http://schemas.microsoft.com/office/drawing/2014/main" id="{685DA20C-00C6-81E7-993F-496E86E2B133}"/>
              </a:ext>
            </a:extLst>
          </p:cNvPr>
          <p:cNvPicPr>
            <a:picLocks noChangeAspect="1"/>
          </p:cNvPicPr>
          <p:nvPr/>
        </p:nvPicPr>
        <p:blipFill>
          <a:blip r:embed="rId6"/>
          <a:srcRect t="24668" r="-4" b="15002"/>
          <a:stretch/>
        </p:blipFill>
        <p:spPr>
          <a:xfrm>
            <a:off x="8144356" y="4267201"/>
            <a:ext cx="4047645" cy="2590808"/>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p:spPr>
      </p:pic>
      <p:pic>
        <p:nvPicPr>
          <p:cNvPr id="5" name="Picture 4">
            <a:extLst>
              <a:ext uri="{FF2B5EF4-FFF2-40B4-BE49-F238E27FC236}">
                <a16:creationId xmlns:a16="http://schemas.microsoft.com/office/drawing/2014/main" id="{14FE3455-90A4-7EA8-C301-229D17616FE0}"/>
              </a:ext>
            </a:extLst>
          </p:cNvPr>
          <p:cNvPicPr>
            <a:picLocks noChangeAspect="1"/>
          </p:cNvPicPr>
          <p:nvPr/>
        </p:nvPicPr>
        <p:blipFill>
          <a:blip r:embed="rId7"/>
          <a:stretch>
            <a:fillRect/>
          </a:stretch>
        </p:blipFill>
        <p:spPr>
          <a:xfrm>
            <a:off x="8332950" y="502779"/>
            <a:ext cx="3218970" cy="3218970"/>
          </a:xfrm>
          <a:prstGeom prst="rect">
            <a:avLst/>
          </a:prstGeom>
        </p:spPr>
      </p:pic>
    </p:spTree>
    <p:extLst>
      <p:ext uri="{BB962C8B-B14F-4D97-AF65-F5344CB8AC3E}">
        <p14:creationId xmlns:p14="http://schemas.microsoft.com/office/powerpoint/2010/main" val="1528468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C7C281-0D8A-7D1A-1A3A-A9AA7B2EC34A}"/>
              </a:ext>
            </a:extLst>
          </p:cNvPr>
          <p:cNvSpPr>
            <a:spLocks noGrp="1"/>
          </p:cNvSpPr>
          <p:nvPr>
            <p:ph type="ctrTitle"/>
          </p:nvPr>
        </p:nvSpPr>
        <p:spPr>
          <a:xfrm>
            <a:off x="2066544" y="1911096"/>
            <a:ext cx="8055864" cy="2076651"/>
          </a:xfrm>
        </p:spPr>
        <p:txBody>
          <a:bodyPr anchor="b">
            <a:normAutofit/>
          </a:bodyPr>
          <a:lstStyle/>
          <a:p>
            <a:r>
              <a:rPr lang="en-US" sz="6600" dirty="0">
                <a:solidFill>
                  <a:srgbClr val="FFFFFF"/>
                </a:solidFill>
              </a:rPr>
              <a:t>Embed </a:t>
            </a:r>
            <a:r>
              <a:rPr lang="en-US" sz="6600" dirty="0" err="1">
                <a:solidFill>
                  <a:srgbClr val="FFFFFF"/>
                </a:solidFill>
              </a:rPr>
              <a:t>PowerFX</a:t>
            </a:r>
            <a:r>
              <a:rPr lang="en-US" sz="6600" dirty="0">
                <a:solidFill>
                  <a:srgbClr val="FFFFFF"/>
                </a:solidFill>
              </a:rPr>
              <a:t> in your .NET Apps!</a:t>
            </a:r>
          </a:p>
        </p:txBody>
      </p:sp>
      <p:sp>
        <p:nvSpPr>
          <p:cNvPr id="3" name="Subtitle 2">
            <a:extLst>
              <a:ext uri="{FF2B5EF4-FFF2-40B4-BE49-F238E27FC236}">
                <a16:creationId xmlns:a16="http://schemas.microsoft.com/office/drawing/2014/main" id="{CA977AF2-7DD2-BDC2-A7C1-9D392D486378}"/>
              </a:ext>
            </a:extLst>
          </p:cNvPr>
          <p:cNvSpPr>
            <a:spLocks noGrp="1"/>
          </p:cNvSpPr>
          <p:nvPr>
            <p:ph type="subTitle" idx="1"/>
          </p:nvPr>
        </p:nvSpPr>
        <p:spPr>
          <a:xfrm>
            <a:off x="3227832" y="4353507"/>
            <a:ext cx="5733288" cy="932688"/>
          </a:xfrm>
        </p:spPr>
        <p:txBody>
          <a:bodyPr>
            <a:normAutofit/>
          </a:bodyPr>
          <a:lstStyle/>
          <a:p>
            <a:endParaRPr lang="en-US">
              <a:solidFill>
                <a:srgbClr val="FFFFFF"/>
              </a:solidFill>
            </a:endParaRPr>
          </a:p>
        </p:txBody>
      </p:sp>
      <p:sp>
        <p:nvSpPr>
          <p:cNvPr id="12"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18BEF6B-12D5-86DC-65B0-0992A8BB50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11481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30D041-AC4E-A657-E3F2-972A41C6004F}"/>
              </a:ext>
            </a:extLst>
          </p:cNvPr>
          <p:cNvSpPr>
            <a:spLocks noGrp="1"/>
          </p:cNvSpPr>
          <p:nvPr>
            <p:ph type="title"/>
          </p:nvPr>
        </p:nvSpPr>
        <p:spPr>
          <a:xfrm>
            <a:off x="838200" y="365125"/>
            <a:ext cx="10515600" cy="1325563"/>
          </a:xfrm>
        </p:spPr>
        <p:txBody>
          <a:bodyPr>
            <a:normAutofit/>
          </a:bodyPr>
          <a:lstStyle/>
          <a:p>
            <a:r>
              <a:rPr lang="en-US" sz="5400" dirty="0"/>
              <a:t>Today’s Talk</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8D7916-63CE-FB74-076E-E44A9B1B59C9}"/>
              </a:ext>
            </a:extLst>
          </p:cNvPr>
          <p:cNvSpPr>
            <a:spLocks noGrp="1"/>
          </p:cNvSpPr>
          <p:nvPr>
            <p:ph idx="1"/>
          </p:nvPr>
        </p:nvSpPr>
        <p:spPr>
          <a:xfrm>
            <a:off x="838200" y="1929384"/>
            <a:ext cx="10515600" cy="4251960"/>
          </a:xfrm>
        </p:spPr>
        <p:txBody>
          <a:bodyPr>
            <a:normAutofit/>
          </a:bodyPr>
          <a:lstStyle/>
          <a:p>
            <a:r>
              <a:rPr lang="en-US" sz="2200" dirty="0"/>
              <a:t>Problem scenario</a:t>
            </a:r>
          </a:p>
          <a:p>
            <a:r>
              <a:rPr lang="en-US" sz="2200" dirty="0"/>
              <a:t>Intro to </a:t>
            </a:r>
            <a:r>
              <a:rPr lang="en-US" sz="2200" dirty="0" err="1"/>
              <a:t>PowerFX</a:t>
            </a:r>
            <a:endParaRPr lang="en-US" sz="2200" dirty="0"/>
          </a:p>
          <a:p>
            <a:r>
              <a:rPr lang="en-US" sz="2200" dirty="0"/>
              <a:t>Why embedding </a:t>
            </a:r>
            <a:r>
              <a:rPr lang="en-US" sz="2200" dirty="0" err="1"/>
              <a:t>PowerFX</a:t>
            </a:r>
            <a:r>
              <a:rPr lang="en-US" sz="2200" dirty="0"/>
              <a:t> is a solution to the problem</a:t>
            </a:r>
          </a:p>
          <a:p>
            <a:r>
              <a:rPr lang="en-US" sz="2200" dirty="0"/>
              <a:t>How to run the </a:t>
            </a:r>
            <a:r>
              <a:rPr lang="en-US" sz="2200" dirty="0" err="1"/>
              <a:t>PowerFX</a:t>
            </a:r>
            <a:r>
              <a:rPr lang="en-US" sz="2200" dirty="0"/>
              <a:t> interpreter from .NET</a:t>
            </a:r>
          </a:p>
          <a:p>
            <a:r>
              <a:rPr lang="en-US" sz="2200" dirty="0"/>
              <a:t>How to extend the </a:t>
            </a:r>
            <a:r>
              <a:rPr lang="en-US" sz="2200" dirty="0" err="1"/>
              <a:t>PowerFX</a:t>
            </a:r>
            <a:r>
              <a:rPr lang="en-US" sz="2200" dirty="0"/>
              <a:t> interpreter</a:t>
            </a:r>
          </a:p>
        </p:txBody>
      </p:sp>
    </p:spTree>
    <p:extLst>
      <p:ext uri="{BB962C8B-B14F-4D97-AF65-F5344CB8AC3E}">
        <p14:creationId xmlns:p14="http://schemas.microsoft.com/office/powerpoint/2010/main" val="3085556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D8F957-F573-EC9A-C2C0-1FCECDB23951}"/>
              </a:ext>
            </a:extLst>
          </p:cNvPr>
          <p:cNvSpPr>
            <a:spLocks noGrp="1"/>
          </p:cNvSpPr>
          <p:nvPr>
            <p:ph type="title"/>
          </p:nvPr>
        </p:nvSpPr>
        <p:spPr>
          <a:xfrm>
            <a:off x="686834" y="1153572"/>
            <a:ext cx="3200400" cy="4461163"/>
          </a:xfrm>
        </p:spPr>
        <p:txBody>
          <a:bodyPr>
            <a:normAutofit/>
          </a:bodyPr>
          <a:lstStyle/>
          <a:p>
            <a:r>
              <a:rPr lang="en-US" sz="3700">
                <a:solidFill>
                  <a:srgbClr val="FFFFFF"/>
                </a:solidFill>
              </a:rPr>
              <a:t>Once upon a time in Pizzas’R’Us™…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D3158F9-EE5C-E168-CA1E-AE34B3D45B60}"/>
              </a:ext>
            </a:extLst>
          </p:cNvPr>
          <p:cNvSpPr>
            <a:spLocks noGrp="1"/>
          </p:cNvSpPr>
          <p:nvPr>
            <p:ph idx="1"/>
          </p:nvPr>
        </p:nvSpPr>
        <p:spPr>
          <a:xfrm>
            <a:off x="4447308" y="591344"/>
            <a:ext cx="6906491" cy="5585619"/>
          </a:xfrm>
        </p:spPr>
        <p:txBody>
          <a:bodyPr anchor="ctr">
            <a:normAutofit/>
          </a:bodyPr>
          <a:lstStyle/>
          <a:p>
            <a:r>
              <a:rPr lang="en-US"/>
              <a:t>Pizzas’R’Us™ is a small but profitable company, trying to be as nimble as possible, providing pizza services to restaurants and super-markets.</a:t>
            </a:r>
          </a:p>
        </p:txBody>
      </p:sp>
    </p:spTree>
    <p:extLst>
      <p:ext uri="{BB962C8B-B14F-4D97-AF65-F5344CB8AC3E}">
        <p14:creationId xmlns:p14="http://schemas.microsoft.com/office/powerpoint/2010/main" val="32505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AEE24-F59E-E1BF-065D-732CB17481AB}"/>
              </a:ext>
            </a:extLst>
          </p:cNvPr>
          <p:cNvSpPr>
            <a:spLocks noGrp="1"/>
          </p:cNvSpPr>
          <p:nvPr>
            <p:ph type="title"/>
          </p:nvPr>
        </p:nvSpPr>
        <p:spPr>
          <a:xfrm>
            <a:off x="838200" y="365125"/>
            <a:ext cx="10515600" cy="1325563"/>
          </a:xfrm>
        </p:spPr>
        <p:txBody>
          <a:bodyPr>
            <a:normAutofit/>
          </a:bodyPr>
          <a:lstStyle/>
          <a:p>
            <a:r>
              <a:rPr lang="en-US" sz="5400" dirty="0"/>
              <a:t>Problem scenario</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DAAEB9-574D-C5FA-A69B-705C75250794}"/>
              </a:ext>
            </a:extLst>
          </p:cNvPr>
          <p:cNvSpPr>
            <a:spLocks noGrp="1"/>
          </p:cNvSpPr>
          <p:nvPr>
            <p:ph idx="1"/>
          </p:nvPr>
        </p:nvSpPr>
        <p:spPr>
          <a:xfrm>
            <a:off x="838200" y="1929384"/>
            <a:ext cx="10515600" cy="4251960"/>
          </a:xfrm>
        </p:spPr>
        <p:txBody>
          <a:bodyPr>
            <a:normAutofit/>
          </a:bodyPr>
          <a:lstStyle/>
          <a:p>
            <a:r>
              <a:rPr lang="en-US" sz="2200" dirty="0" err="1"/>
              <a:t>Pizzas’r’us</a:t>
            </a:r>
            <a:endParaRPr lang="en-US" sz="2200" dirty="0"/>
          </a:p>
          <a:p>
            <a:pPr lvl="1"/>
            <a:r>
              <a:rPr lang="en-US" sz="1800" dirty="0"/>
              <a:t>Small, fast evolving company</a:t>
            </a:r>
          </a:p>
          <a:p>
            <a:pPr lvl="1"/>
            <a:r>
              <a:rPr lang="en-US" sz="1800" dirty="0"/>
              <a:t>Small development team</a:t>
            </a:r>
          </a:p>
          <a:p>
            <a:r>
              <a:rPr lang="en-US" sz="2200" dirty="0"/>
              <a:t>Alexandria – Lead Dev</a:t>
            </a:r>
          </a:p>
          <a:p>
            <a:pPr lvl="1"/>
            <a:r>
              <a:rPr lang="en-US" sz="1800" dirty="0"/>
              <a:t>Many changes requested from Business Units</a:t>
            </a:r>
          </a:p>
          <a:p>
            <a:pPr lvl="1"/>
            <a:r>
              <a:rPr lang="en-US" sz="1800" dirty="0"/>
              <a:t>Business Units trying to adapt to evolving business environment</a:t>
            </a:r>
          </a:p>
          <a:p>
            <a:pPr lvl="1"/>
            <a:r>
              <a:rPr lang="en-US" sz="1800" dirty="0"/>
              <a:t>The biggest part of the changes are business rule changes</a:t>
            </a:r>
          </a:p>
          <a:p>
            <a:pPr lvl="1"/>
            <a:r>
              <a:rPr lang="en-US" sz="1800" dirty="0"/>
              <a:t>Alexandria feels like the bottleneck</a:t>
            </a:r>
          </a:p>
        </p:txBody>
      </p:sp>
      <p:pic>
        <p:nvPicPr>
          <p:cNvPr id="4" name="Picture 3">
            <a:extLst>
              <a:ext uri="{FF2B5EF4-FFF2-40B4-BE49-F238E27FC236}">
                <a16:creationId xmlns:a16="http://schemas.microsoft.com/office/drawing/2014/main" id="{55518957-3B2E-C7D2-8B03-A119BCEDEF40}"/>
              </a:ext>
            </a:extLst>
          </p:cNvPr>
          <p:cNvPicPr>
            <a:picLocks noChangeAspect="1"/>
          </p:cNvPicPr>
          <p:nvPr/>
        </p:nvPicPr>
        <p:blipFill>
          <a:blip r:embed="rId3"/>
          <a:stretch>
            <a:fillRect/>
          </a:stretch>
        </p:blipFill>
        <p:spPr>
          <a:xfrm>
            <a:off x="8447999" y="3002936"/>
            <a:ext cx="2142761" cy="2884488"/>
          </a:xfrm>
          <a:prstGeom prst="rect">
            <a:avLst/>
          </a:prstGeom>
        </p:spPr>
      </p:pic>
    </p:spTree>
    <p:extLst>
      <p:ext uri="{BB962C8B-B14F-4D97-AF65-F5344CB8AC3E}">
        <p14:creationId xmlns:p14="http://schemas.microsoft.com/office/powerpoint/2010/main" val="96671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DC4CF-4AB5-0446-B26D-657B29F301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4B72FC-B4D7-7E3A-A879-719B20351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14C442-E974-988D-294E-92EA24E112D5}"/>
              </a:ext>
            </a:extLst>
          </p:cNvPr>
          <p:cNvSpPr>
            <a:spLocks noGrp="1"/>
          </p:cNvSpPr>
          <p:nvPr>
            <p:ph type="title"/>
          </p:nvPr>
        </p:nvSpPr>
        <p:spPr>
          <a:xfrm>
            <a:off x="838200" y="365125"/>
            <a:ext cx="10515600" cy="1325563"/>
          </a:xfrm>
        </p:spPr>
        <p:txBody>
          <a:bodyPr>
            <a:normAutofit/>
          </a:bodyPr>
          <a:lstStyle/>
          <a:p>
            <a:r>
              <a:rPr lang="en-US" sz="5400" dirty="0"/>
              <a:t>Business Logic vs Other logic</a:t>
            </a:r>
          </a:p>
        </p:txBody>
      </p:sp>
      <p:sp>
        <p:nvSpPr>
          <p:cNvPr id="10" name="sketch line">
            <a:extLst>
              <a:ext uri="{FF2B5EF4-FFF2-40B4-BE49-F238E27FC236}">
                <a16:creationId xmlns:a16="http://schemas.microsoft.com/office/drawing/2014/main" id="{D6B4D6EA-99E7-3C21-6C50-984A838BA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01B539-6D2D-BD6C-11D8-913928F24928}"/>
              </a:ext>
            </a:extLst>
          </p:cNvPr>
          <p:cNvSpPr>
            <a:spLocks noGrp="1"/>
          </p:cNvSpPr>
          <p:nvPr>
            <p:ph idx="1"/>
          </p:nvPr>
        </p:nvSpPr>
        <p:spPr>
          <a:xfrm>
            <a:off x="838200" y="1929384"/>
            <a:ext cx="10515600" cy="4251960"/>
          </a:xfrm>
        </p:spPr>
        <p:txBody>
          <a:bodyPr>
            <a:normAutofit/>
          </a:bodyPr>
          <a:lstStyle/>
          <a:p>
            <a:r>
              <a:rPr lang="en-US" sz="1800" dirty="0"/>
              <a:t>Business logic is the logic that is unique to the business problem you are trying to solve. </a:t>
            </a:r>
          </a:p>
          <a:p>
            <a:r>
              <a:rPr lang="en-US" sz="1800" dirty="0"/>
              <a:t>It can be very unique</a:t>
            </a:r>
          </a:p>
          <a:p>
            <a:pPr lvl="1"/>
            <a:r>
              <a:rPr lang="en-US" sz="1400" dirty="0"/>
              <a:t>Examples</a:t>
            </a:r>
          </a:p>
          <a:p>
            <a:pPr lvl="2"/>
            <a:r>
              <a:rPr lang="en-US" sz="1000" dirty="0"/>
              <a:t>Logic to drop a message in a queue is common across industries</a:t>
            </a:r>
          </a:p>
          <a:p>
            <a:pPr lvl="2"/>
            <a:r>
              <a:rPr lang="en-US" sz="1000" dirty="0"/>
              <a:t>Logic that specifies that customers with certain number of purchases get a discount is very specific.</a:t>
            </a:r>
          </a:p>
          <a:p>
            <a:r>
              <a:rPr lang="en-US" sz="1800" dirty="0"/>
              <a:t>It can be executed in a vacuum with no direct dependencies on external resources</a:t>
            </a:r>
          </a:p>
        </p:txBody>
      </p:sp>
    </p:spTree>
    <p:extLst>
      <p:ext uri="{BB962C8B-B14F-4D97-AF65-F5344CB8AC3E}">
        <p14:creationId xmlns:p14="http://schemas.microsoft.com/office/powerpoint/2010/main" val="3681795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6B4CC0-BDED-B9D3-A847-01342D2310A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4BB239-187E-F729-8AD4-1DA69273A2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B184F-30FB-AA25-952A-B459FE43D2B5}"/>
              </a:ext>
            </a:extLst>
          </p:cNvPr>
          <p:cNvSpPr>
            <a:spLocks noGrp="1"/>
          </p:cNvSpPr>
          <p:nvPr>
            <p:ph type="title"/>
          </p:nvPr>
        </p:nvSpPr>
        <p:spPr>
          <a:xfrm>
            <a:off x="838200" y="365125"/>
            <a:ext cx="10515600" cy="1325563"/>
          </a:xfrm>
        </p:spPr>
        <p:txBody>
          <a:bodyPr>
            <a:normAutofit/>
          </a:bodyPr>
          <a:lstStyle/>
          <a:p>
            <a:r>
              <a:rPr lang="en-US" sz="5400" dirty="0"/>
              <a:t>Solution Research</a:t>
            </a:r>
          </a:p>
        </p:txBody>
      </p:sp>
      <p:sp>
        <p:nvSpPr>
          <p:cNvPr id="10" name="sketch line">
            <a:extLst>
              <a:ext uri="{FF2B5EF4-FFF2-40B4-BE49-F238E27FC236}">
                <a16:creationId xmlns:a16="http://schemas.microsoft.com/office/drawing/2014/main" id="{99F32EAE-1B3D-C6E2-71B2-2839B1058F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E76935-EB5F-674B-F17B-F1D882ED1694}"/>
              </a:ext>
            </a:extLst>
          </p:cNvPr>
          <p:cNvSpPr>
            <a:spLocks noGrp="1"/>
          </p:cNvSpPr>
          <p:nvPr>
            <p:ph idx="1"/>
          </p:nvPr>
        </p:nvSpPr>
        <p:spPr>
          <a:xfrm>
            <a:off x="838200" y="1929384"/>
            <a:ext cx="10515600" cy="4251960"/>
          </a:xfrm>
        </p:spPr>
        <p:txBody>
          <a:bodyPr>
            <a:normAutofit/>
          </a:bodyPr>
          <a:lstStyle/>
          <a:p>
            <a:r>
              <a:rPr lang="en-US" sz="2400" dirty="0"/>
              <a:t>Most requests are for Business rules changes</a:t>
            </a:r>
          </a:p>
          <a:p>
            <a:r>
              <a:rPr lang="en-US" sz="2400" dirty="0"/>
              <a:t>Business users familiar with Excel</a:t>
            </a:r>
          </a:p>
          <a:p>
            <a:r>
              <a:rPr lang="en-US" sz="2400" dirty="0"/>
              <a:t>A larger IT team that are not Pro </a:t>
            </a:r>
            <a:r>
              <a:rPr lang="en-US" sz="2400" dirty="0" err="1"/>
              <a:t>devs</a:t>
            </a:r>
            <a:r>
              <a:rPr lang="en-US" sz="2400" dirty="0"/>
              <a:t>, but work in </a:t>
            </a:r>
            <a:r>
              <a:rPr lang="en-US" sz="2400" dirty="0" err="1"/>
              <a:t>PowerPlatform</a:t>
            </a:r>
            <a:endParaRPr lang="en-US" sz="2400" dirty="0"/>
          </a:p>
          <a:p>
            <a:pPr lvl="1"/>
            <a:r>
              <a:rPr lang="en-US" sz="2000" dirty="0"/>
              <a:t>PowerApps</a:t>
            </a:r>
          </a:p>
          <a:p>
            <a:pPr lvl="1"/>
            <a:r>
              <a:rPr lang="en-US" sz="2000" dirty="0" err="1"/>
              <a:t>PowerAutomate</a:t>
            </a:r>
            <a:endParaRPr lang="en-US" sz="2000" dirty="0"/>
          </a:p>
          <a:p>
            <a:endParaRPr lang="en-US" sz="2200" dirty="0"/>
          </a:p>
          <a:p>
            <a:pPr lvl="1"/>
            <a:endParaRPr lang="en-US" sz="1800" dirty="0"/>
          </a:p>
        </p:txBody>
      </p:sp>
    </p:spTree>
    <p:extLst>
      <p:ext uri="{BB962C8B-B14F-4D97-AF65-F5344CB8AC3E}">
        <p14:creationId xmlns:p14="http://schemas.microsoft.com/office/powerpoint/2010/main" val="2381318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A839D3-D7AD-6D84-F91D-B0A19AD55E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EED5B1-25F4-982F-C9B6-62DDF6DAE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542A7B-24C6-4CB5-EA31-789D351C2F94}"/>
              </a:ext>
            </a:extLst>
          </p:cNvPr>
          <p:cNvSpPr>
            <a:spLocks noGrp="1"/>
          </p:cNvSpPr>
          <p:nvPr>
            <p:ph type="title"/>
          </p:nvPr>
        </p:nvSpPr>
        <p:spPr>
          <a:xfrm>
            <a:off x="838200" y="365125"/>
            <a:ext cx="10515600" cy="1325563"/>
          </a:xfrm>
        </p:spPr>
        <p:txBody>
          <a:bodyPr>
            <a:normAutofit/>
          </a:bodyPr>
          <a:lstStyle/>
          <a:p>
            <a:r>
              <a:rPr lang="en-US" sz="5400" dirty="0"/>
              <a:t>Solution Space</a:t>
            </a:r>
          </a:p>
        </p:txBody>
      </p:sp>
      <p:sp>
        <p:nvSpPr>
          <p:cNvPr id="10" name="sketch line">
            <a:extLst>
              <a:ext uri="{FF2B5EF4-FFF2-40B4-BE49-F238E27FC236}">
                <a16:creationId xmlns:a16="http://schemas.microsoft.com/office/drawing/2014/main" id="{3B4940A2-BF2A-4891-5652-9C775294A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1548BD-3B41-D896-F2A3-6EC921AE9CD6}"/>
              </a:ext>
            </a:extLst>
          </p:cNvPr>
          <p:cNvSpPr>
            <a:spLocks noGrp="1"/>
          </p:cNvSpPr>
          <p:nvPr>
            <p:ph idx="1"/>
          </p:nvPr>
        </p:nvSpPr>
        <p:spPr>
          <a:xfrm>
            <a:off x="838200" y="1929384"/>
            <a:ext cx="10515600" cy="4251960"/>
          </a:xfrm>
        </p:spPr>
        <p:txBody>
          <a:bodyPr>
            <a:normAutofit/>
          </a:bodyPr>
          <a:lstStyle/>
          <a:p>
            <a:r>
              <a:rPr lang="en-US" sz="2400" dirty="0"/>
              <a:t>Business rules engine frameworks</a:t>
            </a:r>
          </a:p>
          <a:p>
            <a:pPr lvl="1"/>
            <a:r>
              <a:rPr lang="en-US" sz="1400" dirty="0"/>
              <a:t>Most are Java based, not a good fit for team</a:t>
            </a:r>
          </a:p>
          <a:p>
            <a:pPr lvl="1"/>
            <a:r>
              <a:rPr lang="en-US" sz="1400" dirty="0"/>
              <a:t>Another paradigm for business users to learn</a:t>
            </a:r>
          </a:p>
          <a:p>
            <a:r>
              <a:rPr lang="en-US" sz="1800" dirty="0"/>
              <a:t>Microsoft’s Rules Engine</a:t>
            </a:r>
          </a:p>
          <a:p>
            <a:pPr lvl="1"/>
            <a:r>
              <a:rPr lang="en-US" sz="1400" dirty="0">
                <a:hlinkClick r:id="rId3"/>
              </a:rPr>
              <a:t>https://github.com/microsoft/RulesEngine</a:t>
            </a:r>
            <a:endParaRPr lang="en-US" sz="1400" dirty="0"/>
          </a:p>
          <a:p>
            <a:pPr lvl="1"/>
            <a:r>
              <a:rPr lang="en-US" sz="1400" dirty="0"/>
              <a:t>Unfamiliar syntax for existing org</a:t>
            </a:r>
          </a:p>
          <a:p>
            <a:r>
              <a:rPr lang="en-US" sz="1800" dirty="0"/>
              <a:t>Graphical DSL</a:t>
            </a:r>
          </a:p>
          <a:p>
            <a:pPr lvl="1"/>
            <a:r>
              <a:rPr lang="en-US" sz="1400" dirty="0"/>
              <a:t>Classic Windows Workflows</a:t>
            </a:r>
          </a:p>
          <a:p>
            <a:r>
              <a:rPr lang="en-US" sz="1800" dirty="0" err="1"/>
              <a:t>PowerFX</a:t>
            </a:r>
            <a:endParaRPr lang="en-US" sz="1800" dirty="0"/>
          </a:p>
          <a:p>
            <a:pPr lvl="1"/>
            <a:endParaRPr lang="en-US" sz="1000" dirty="0"/>
          </a:p>
          <a:p>
            <a:endParaRPr lang="en-US" sz="1800" dirty="0"/>
          </a:p>
          <a:p>
            <a:endParaRPr lang="en-US" sz="2200" dirty="0"/>
          </a:p>
          <a:p>
            <a:pPr lvl="1"/>
            <a:endParaRPr lang="en-US" sz="1800" dirty="0"/>
          </a:p>
        </p:txBody>
      </p:sp>
    </p:spTree>
    <p:extLst>
      <p:ext uri="{BB962C8B-B14F-4D97-AF65-F5344CB8AC3E}">
        <p14:creationId xmlns:p14="http://schemas.microsoft.com/office/powerpoint/2010/main" val="1560222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AE677F-C6E5-FFA4-6478-5D58E56AA59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6F1046-F7CA-D566-9E0D-D15AB3B8D754}"/>
              </a:ext>
            </a:extLst>
          </p:cNvPr>
          <p:cNvSpPr>
            <a:spLocks noGrp="1"/>
          </p:cNvSpPr>
          <p:nvPr>
            <p:ph type="title"/>
          </p:nvPr>
        </p:nvSpPr>
        <p:spPr>
          <a:xfrm>
            <a:off x="686834" y="1153572"/>
            <a:ext cx="3200400" cy="4461163"/>
          </a:xfrm>
        </p:spPr>
        <p:txBody>
          <a:bodyPr>
            <a:normAutofit/>
          </a:bodyPr>
          <a:lstStyle/>
          <a:p>
            <a:r>
              <a:rPr lang="en-US">
                <a:solidFill>
                  <a:srgbClr val="FFFFFF"/>
                </a:solidFill>
              </a:rPr>
              <a:t>Intro to PowerFX</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B69A762-FEC8-E2E1-6828-B3877AE8878A}"/>
              </a:ext>
            </a:extLst>
          </p:cNvPr>
          <p:cNvSpPr>
            <a:spLocks noGrp="1"/>
          </p:cNvSpPr>
          <p:nvPr>
            <p:ph idx="1"/>
          </p:nvPr>
        </p:nvSpPr>
        <p:spPr>
          <a:xfrm>
            <a:off x="4447308" y="591344"/>
            <a:ext cx="6906491" cy="5585619"/>
          </a:xfrm>
        </p:spPr>
        <p:txBody>
          <a:bodyPr anchor="ctr">
            <a:normAutofit/>
          </a:bodyPr>
          <a:lstStyle/>
          <a:p>
            <a:r>
              <a:rPr lang="en-US" dirty="0"/>
              <a:t>Business user friendly</a:t>
            </a:r>
          </a:p>
          <a:p>
            <a:r>
              <a:rPr lang="en-US" dirty="0"/>
              <a:t>Open sourced by Microsoft</a:t>
            </a:r>
          </a:p>
          <a:p>
            <a:r>
              <a:rPr lang="en-US" dirty="0"/>
              <a:t>Similar to Excel formulas</a:t>
            </a:r>
          </a:p>
          <a:p>
            <a:r>
              <a:rPr lang="en-US" dirty="0"/>
              <a:t>Use in many parts of the Power Platform</a:t>
            </a:r>
          </a:p>
          <a:p>
            <a:pPr lvl="1"/>
            <a:r>
              <a:rPr lang="en-US" dirty="0"/>
              <a:t>Many Experts, Tutorials, Articles, </a:t>
            </a:r>
            <a:r>
              <a:rPr lang="en-US" dirty="0" err="1"/>
              <a:t>etc</a:t>
            </a:r>
            <a:endParaRPr lang="en-US" dirty="0"/>
          </a:p>
          <a:p>
            <a:r>
              <a:rPr lang="en-US" dirty="0">
                <a:hlinkClick r:id="rId3"/>
              </a:rPr>
              <a:t>https://learn.microsoft.com/en-us/power-platform/power-fx/overview</a:t>
            </a:r>
            <a:r>
              <a:rPr lang="en-US" dirty="0"/>
              <a:t> </a:t>
            </a:r>
          </a:p>
        </p:txBody>
      </p:sp>
    </p:spTree>
    <p:extLst>
      <p:ext uri="{BB962C8B-B14F-4D97-AF65-F5344CB8AC3E}">
        <p14:creationId xmlns:p14="http://schemas.microsoft.com/office/powerpoint/2010/main" val="2726405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172307-19C0-3297-9326-EBBDE6DC02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1D64FAC-9626-417E-B6DD-562060EC80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7EB793-6AB5-A5BF-4C68-B4DECD9CEBED}"/>
              </a:ext>
            </a:extLst>
          </p:cNvPr>
          <p:cNvSpPr>
            <a:spLocks noGrp="1"/>
          </p:cNvSpPr>
          <p:nvPr>
            <p:ph type="title"/>
          </p:nvPr>
        </p:nvSpPr>
        <p:spPr>
          <a:xfrm>
            <a:off x="838200" y="365125"/>
            <a:ext cx="10515600" cy="1325563"/>
          </a:xfrm>
        </p:spPr>
        <p:txBody>
          <a:bodyPr>
            <a:normAutofit/>
          </a:bodyPr>
          <a:lstStyle/>
          <a:p>
            <a:r>
              <a:rPr lang="en-US" sz="5400" dirty="0" err="1"/>
              <a:t>PowerFx</a:t>
            </a:r>
            <a:endParaRPr lang="en-US" sz="5400" dirty="0"/>
          </a:p>
        </p:txBody>
      </p:sp>
      <p:sp>
        <p:nvSpPr>
          <p:cNvPr id="10" name="sketch line">
            <a:extLst>
              <a:ext uri="{FF2B5EF4-FFF2-40B4-BE49-F238E27FC236}">
                <a16:creationId xmlns:a16="http://schemas.microsoft.com/office/drawing/2014/main" id="{D8BF7FBC-03BD-AF09-B726-4D60A72D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6AA1C5F-B7ED-DCF6-FDB7-6599E320465B}"/>
              </a:ext>
            </a:extLst>
          </p:cNvPr>
          <p:cNvSpPr>
            <a:spLocks noGrp="1"/>
          </p:cNvSpPr>
          <p:nvPr>
            <p:ph idx="1"/>
          </p:nvPr>
        </p:nvSpPr>
        <p:spPr>
          <a:xfrm>
            <a:off x="838200" y="1929384"/>
            <a:ext cx="10515600" cy="4251960"/>
          </a:xfrm>
        </p:spPr>
        <p:txBody>
          <a:bodyPr>
            <a:normAutofit/>
          </a:bodyPr>
          <a:lstStyle/>
          <a:p>
            <a:pPr lvl="1"/>
            <a:endParaRPr lang="en-US" sz="1000" dirty="0"/>
          </a:p>
          <a:p>
            <a:endParaRPr lang="en-US" sz="1800" dirty="0"/>
          </a:p>
          <a:p>
            <a:endParaRPr lang="en-US" sz="2200" dirty="0"/>
          </a:p>
          <a:p>
            <a:pPr lvl="1"/>
            <a:endParaRPr lang="en-US" sz="1800" dirty="0"/>
          </a:p>
        </p:txBody>
      </p:sp>
      <p:pic>
        <p:nvPicPr>
          <p:cNvPr id="1026" name="Picture 2" descr="Power Fx reverse search.">
            <a:extLst>
              <a:ext uri="{FF2B5EF4-FFF2-40B4-BE49-F238E27FC236}">
                <a16:creationId xmlns:a16="http://schemas.microsoft.com/office/drawing/2014/main" id="{9761B525-923F-99B6-7D93-054795533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3980" y="2179011"/>
            <a:ext cx="8313420" cy="3120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74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C3B51B-CD1E-84E5-E7B2-ED12B12BB2EC}"/>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C3E3E2C1-3777-0AA9-FFD7-C0605B1B04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53528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378837-F088-4F73-261A-E994B5D75E04}"/>
              </a:ext>
            </a:extLst>
          </p:cNvPr>
          <p:cNvSpPr>
            <a:spLocks noGrp="1"/>
          </p:cNvSpPr>
          <p:nvPr>
            <p:ph type="title"/>
          </p:nvPr>
        </p:nvSpPr>
        <p:spPr>
          <a:xfrm>
            <a:off x="838200" y="365125"/>
            <a:ext cx="10515600" cy="1325563"/>
          </a:xfrm>
        </p:spPr>
        <p:txBody>
          <a:bodyPr>
            <a:normAutofit/>
          </a:bodyPr>
          <a:lstStyle/>
          <a:p>
            <a:r>
              <a:rPr lang="en-US" sz="4200"/>
              <a:t>Why we should consider using PowerFX from our .NET apps</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137A397-DC3B-644A-C99A-F144996F9654}"/>
              </a:ext>
            </a:extLst>
          </p:cNvPr>
          <p:cNvSpPr>
            <a:spLocks noGrp="1"/>
          </p:cNvSpPr>
          <p:nvPr>
            <p:ph idx="1"/>
          </p:nvPr>
        </p:nvSpPr>
        <p:spPr>
          <a:xfrm>
            <a:off x="838200" y="1929384"/>
            <a:ext cx="10515600" cy="4251960"/>
          </a:xfrm>
        </p:spPr>
        <p:txBody>
          <a:bodyPr>
            <a:normAutofit/>
          </a:bodyPr>
          <a:lstStyle/>
          <a:p>
            <a:r>
              <a:rPr lang="en-US" sz="2200" dirty="0"/>
              <a:t>Tap into the power of </a:t>
            </a:r>
            <a:r>
              <a:rPr lang="en-US" sz="2200" dirty="0" err="1"/>
              <a:t>PowerFX</a:t>
            </a:r>
            <a:endParaRPr lang="en-US" sz="2200" dirty="0"/>
          </a:p>
          <a:p>
            <a:pPr lvl="1"/>
            <a:r>
              <a:rPr lang="en-US" sz="2200" dirty="0"/>
              <a:t>Business users already familiar</a:t>
            </a:r>
          </a:p>
          <a:p>
            <a:pPr lvl="1"/>
            <a:r>
              <a:rPr lang="en-US" sz="2200" dirty="0"/>
              <a:t>Answers on how-to already on Internet</a:t>
            </a:r>
          </a:p>
          <a:p>
            <a:pPr lvl="1"/>
            <a:r>
              <a:rPr lang="en-US" sz="2200" dirty="0"/>
              <a:t>Co-pilot support</a:t>
            </a:r>
          </a:p>
          <a:p>
            <a:r>
              <a:rPr lang="en-US" sz="2200" dirty="0"/>
              <a:t>Execution at runtime add dynamism to your app</a:t>
            </a:r>
          </a:p>
          <a:p>
            <a:r>
              <a:rPr lang="en-US" sz="2200" dirty="0"/>
              <a:t>Business/Mapping rules</a:t>
            </a:r>
          </a:p>
        </p:txBody>
      </p:sp>
    </p:spTree>
    <p:extLst>
      <p:ext uri="{BB962C8B-B14F-4D97-AF65-F5344CB8AC3E}">
        <p14:creationId xmlns:p14="http://schemas.microsoft.com/office/powerpoint/2010/main" val="1449738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DEA4B-5943-9C48-48F5-5F88DA6978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2E6497-D99D-3CE6-FF95-F68AABCA940B}"/>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06A25E4E-1025-7E29-9C12-1A362EE35A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91279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9BAADF-FBD1-96C2-B5CB-49D1AE99E6CC}"/>
              </a:ext>
            </a:extLst>
          </p:cNvPr>
          <p:cNvSpPr>
            <a:spLocks noGrp="1"/>
          </p:cNvSpPr>
          <p:nvPr>
            <p:ph type="title"/>
          </p:nvPr>
        </p:nvSpPr>
        <p:spPr>
          <a:xfrm>
            <a:off x="838200" y="365125"/>
            <a:ext cx="10515600" cy="1325563"/>
          </a:xfrm>
        </p:spPr>
        <p:txBody>
          <a:bodyPr>
            <a:normAutofit/>
          </a:bodyPr>
          <a:lstStyle/>
          <a:p>
            <a:r>
              <a:rPr lang="en-US" sz="4200"/>
              <a:t>How to run the PowerFX interpreter from .NET</a:t>
            </a:r>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714051-6D8A-B5CC-084A-649ADEC99D71}"/>
              </a:ext>
            </a:extLst>
          </p:cNvPr>
          <p:cNvSpPr>
            <a:spLocks noGrp="1"/>
          </p:cNvSpPr>
          <p:nvPr>
            <p:ph idx="1"/>
          </p:nvPr>
        </p:nvSpPr>
        <p:spPr>
          <a:xfrm>
            <a:off x="838200" y="1929384"/>
            <a:ext cx="10515600" cy="4251960"/>
          </a:xfrm>
        </p:spPr>
        <p:txBody>
          <a:bodyPr>
            <a:normAutofit/>
          </a:bodyPr>
          <a:lstStyle/>
          <a:p>
            <a:r>
              <a:rPr lang="en-US" sz="2200" dirty="0"/>
              <a:t>Interpreter from Microsoft</a:t>
            </a:r>
          </a:p>
          <a:p>
            <a:pPr lvl="1"/>
            <a:r>
              <a:rPr lang="en-US" sz="2200" dirty="0">
                <a:hlinkClick r:id="rId3"/>
              </a:rPr>
              <a:t>https://github.com/microsoft/Power-Fx</a:t>
            </a:r>
            <a:endParaRPr lang="en-US" sz="2200" dirty="0"/>
          </a:p>
          <a:p>
            <a:r>
              <a:rPr lang="en-US" sz="2200" dirty="0"/>
              <a:t>Microsoft Samples:</a:t>
            </a:r>
          </a:p>
          <a:p>
            <a:pPr lvl="1"/>
            <a:r>
              <a:rPr lang="en-US" sz="2200" dirty="0">
                <a:hlinkClick r:id="rId4"/>
              </a:rPr>
              <a:t>https://github.com/microsoft/power-fx-host-samples</a:t>
            </a:r>
            <a:r>
              <a:rPr lang="en-US" sz="2200" dirty="0"/>
              <a:t> </a:t>
            </a:r>
          </a:p>
          <a:p>
            <a:r>
              <a:rPr lang="en-US" sz="2200" dirty="0"/>
              <a:t>Minimal Sample:</a:t>
            </a:r>
          </a:p>
          <a:p>
            <a:pPr lvl="1"/>
            <a:r>
              <a:rPr lang="en-US" sz="2200" dirty="0">
                <a:hlinkClick r:id="rId5"/>
              </a:rPr>
              <a:t>https://github.com/TheJuanitoLearnsShow/EmbedPowerFX-Session</a:t>
            </a:r>
            <a:r>
              <a:rPr lang="en-US" sz="2200" dirty="0"/>
              <a:t> </a:t>
            </a:r>
          </a:p>
        </p:txBody>
      </p:sp>
    </p:spTree>
    <p:extLst>
      <p:ext uri="{BB962C8B-B14F-4D97-AF65-F5344CB8AC3E}">
        <p14:creationId xmlns:p14="http://schemas.microsoft.com/office/powerpoint/2010/main" val="82876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EEC2EE-058B-8395-CC11-FB36500DB031}"/>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F80A3D5-7F77-FF7C-84E0-D770178BE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8A028F-72EC-7A19-A7FB-0A87C4C1E9D3}"/>
              </a:ext>
            </a:extLst>
          </p:cNvPr>
          <p:cNvSpPr>
            <a:spLocks noGrp="1"/>
          </p:cNvSpPr>
          <p:nvPr>
            <p:ph type="title"/>
          </p:nvPr>
        </p:nvSpPr>
        <p:spPr>
          <a:xfrm>
            <a:off x="838200" y="365125"/>
            <a:ext cx="10515600" cy="1325563"/>
          </a:xfrm>
        </p:spPr>
        <p:txBody>
          <a:bodyPr>
            <a:normAutofit/>
          </a:bodyPr>
          <a:lstStyle/>
          <a:p>
            <a:r>
              <a:rPr lang="en-US" sz="4200" dirty="0"/>
              <a:t>How to run the </a:t>
            </a:r>
            <a:r>
              <a:rPr lang="en-US" sz="4200" dirty="0" err="1"/>
              <a:t>PowerFX</a:t>
            </a:r>
            <a:r>
              <a:rPr lang="en-US" sz="4200" dirty="0"/>
              <a:t> interpreter from .NET</a:t>
            </a:r>
          </a:p>
        </p:txBody>
      </p:sp>
      <p:sp>
        <p:nvSpPr>
          <p:cNvPr id="21" name="sketch line">
            <a:extLst>
              <a:ext uri="{FF2B5EF4-FFF2-40B4-BE49-F238E27FC236}">
                <a16:creationId xmlns:a16="http://schemas.microsoft.com/office/drawing/2014/main" id="{8A32C08A-3FAB-2A97-9BA3-DEB6CA530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BFC627-69DC-AD8A-E1DA-A63C6D11291E}"/>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000" dirty="0"/>
              <a:t>Add NuGet packages</a:t>
            </a:r>
            <a:endParaRPr lang="en-US" dirty="0"/>
          </a:p>
          <a:p>
            <a:r>
              <a:rPr lang="en-US" sz="2000" dirty="0"/>
              <a:t>Initialize engine</a:t>
            </a:r>
            <a:endParaRPr lang="en-US" dirty="0"/>
          </a:p>
          <a:p>
            <a:r>
              <a:rPr lang="en-US" sz="2000" dirty="0"/>
              <a:t>Add variables and formulas</a:t>
            </a:r>
          </a:p>
          <a:p>
            <a:pPr lvl="1"/>
            <a:r>
              <a:rPr lang="en-US" sz="1600" dirty="0"/>
              <a:t>Must have valid syntax</a:t>
            </a:r>
          </a:p>
          <a:p>
            <a:pPr lvl="1"/>
            <a:r>
              <a:rPr lang="en-US" sz="1600" dirty="0"/>
              <a:t>Language definition in progress:</a:t>
            </a:r>
          </a:p>
          <a:p>
            <a:pPr lvl="2"/>
            <a:r>
              <a:rPr lang="en-US" sz="1200" dirty="0">
                <a:hlinkClick r:id="rId3"/>
              </a:rPr>
              <a:t>https://github.com/microsoft/Power-Fx/blob/main/docs/overview.md</a:t>
            </a:r>
            <a:r>
              <a:rPr lang="en-US" sz="1200" dirty="0"/>
              <a:t> </a:t>
            </a:r>
          </a:p>
          <a:p>
            <a:r>
              <a:rPr lang="en-US" sz="2000" dirty="0"/>
              <a:t>Evaluate formulas</a:t>
            </a:r>
          </a:p>
        </p:txBody>
      </p:sp>
    </p:spTree>
    <p:extLst>
      <p:ext uri="{BB962C8B-B14F-4D97-AF65-F5344CB8AC3E}">
        <p14:creationId xmlns:p14="http://schemas.microsoft.com/office/powerpoint/2010/main" val="3248658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AF090-DF03-2D55-E4A9-15476A51D5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07CD88-25BF-D5A2-57D4-231B23F3EA15}"/>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81CA869E-6C47-8B2D-CD47-CB6FF06E754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51320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C2AC92-2A75-AAF8-1F3C-AC05D484F50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CD0DA76-8025-8AB3-FC6E-E892BADBC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B8F743-8D02-A013-A215-801142BA4795}"/>
              </a:ext>
            </a:extLst>
          </p:cNvPr>
          <p:cNvSpPr>
            <a:spLocks noGrp="1"/>
          </p:cNvSpPr>
          <p:nvPr>
            <p:ph type="title"/>
          </p:nvPr>
        </p:nvSpPr>
        <p:spPr>
          <a:xfrm>
            <a:off x="838200" y="365125"/>
            <a:ext cx="10515600" cy="1325563"/>
          </a:xfrm>
        </p:spPr>
        <p:txBody>
          <a:bodyPr>
            <a:normAutofit/>
          </a:bodyPr>
          <a:lstStyle/>
          <a:p>
            <a:r>
              <a:rPr lang="en-US" sz="4200" dirty="0"/>
              <a:t>Custom Functions</a:t>
            </a:r>
          </a:p>
        </p:txBody>
      </p:sp>
      <p:sp>
        <p:nvSpPr>
          <p:cNvPr id="21" name="sketch line">
            <a:extLst>
              <a:ext uri="{FF2B5EF4-FFF2-40B4-BE49-F238E27FC236}">
                <a16:creationId xmlns:a16="http://schemas.microsoft.com/office/drawing/2014/main" id="{997F5DF3-329B-3D3C-9B68-1C35998C9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98C200-E2FF-5691-3432-80594D0216C8}"/>
              </a:ext>
            </a:extLst>
          </p:cNvPr>
          <p:cNvSpPr>
            <a:spLocks noGrp="1"/>
          </p:cNvSpPr>
          <p:nvPr>
            <p:ph idx="1"/>
          </p:nvPr>
        </p:nvSpPr>
        <p:spPr>
          <a:xfrm>
            <a:off x="838200" y="1929384"/>
            <a:ext cx="10515600" cy="4251960"/>
          </a:xfrm>
        </p:spPr>
        <p:txBody>
          <a:bodyPr>
            <a:normAutofit/>
          </a:bodyPr>
          <a:lstStyle/>
          <a:p>
            <a:r>
              <a:rPr lang="en-US" sz="2000" dirty="0"/>
              <a:t>Derive from </a:t>
            </a:r>
            <a:r>
              <a:rPr lang="en-US" sz="2000" dirty="0" err="1"/>
              <a:t>ReflectionFunction</a:t>
            </a:r>
            <a:endParaRPr lang="en-US" sz="2000" dirty="0"/>
          </a:p>
          <a:p>
            <a:pPr lvl="1"/>
            <a:r>
              <a:rPr lang="en-US" sz="1600" dirty="0"/>
              <a:t>Base constructor takes in:</a:t>
            </a:r>
          </a:p>
          <a:p>
            <a:pPr lvl="2"/>
            <a:r>
              <a:rPr lang="en-US" sz="1200" dirty="0"/>
              <a:t>Name</a:t>
            </a:r>
          </a:p>
          <a:p>
            <a:pPr lvl="2"/>
            <a:r>
              <a:rPr lang="en-US" sz="1200" dirty="0"/>
              <a:t>Return Type</a:t>
            </a:r>
          </a:p>
          <a:p>
            <a:pPr lvl="2"/>
            <a:r>
              <a:rPr lang="en-US" sz="1200" dirty="0"/>
              <a:t>Param Types</a:t>
            </a:r>
          </a:p>
          <a:p>
            <a:r>
              <a:rPr lang="en-US" sz="2000" dirty="0"/>
              <a:t>Implement “Execute” method</a:t>
            </a:r>
          </a:p>
          <a:p>
            <a:r>
              <a:rPr lang="en-US" sz="2000" dirty="0"/>
              <a:t>Function returning:</a:t>
            </a:r>
          </a:p>
          <a:p>
            <a:pPr lvl="1"/>
            <a:r>
              <a:rPr lang="en-US" sz="1600" dirty="0"/>
              <a:t>Primitive</a:t>
            </a:r>
          </a:p>
          <a:p>
            <a:pPr lvl="1"/>
            <a:r>
              <a:rPr lang="en-US" sz="1600" dirty="0"/>
              <a:t>Record</a:t>
            </a:r>
          </a:p>
          <a:p>
            <a:pPr lvl="1"/>
            <a:r>
              <a:rPr lang="en-US" sz="1600" dirty="0"/>
              <a:t>Table</a:t>
            </a:r>
          </a:p>
          <a:p>
            <a:r>
              <a:rPr lang="en-US" sz="2000" dirty="0"/>
              <a:t>Async functions</a:t>
            </a:r>
          </a:p>
        </p:txBody>
      </p:sp>
    </p:spTree>
    <p:extLst>
      <p:ext uri="{BB962C8B-B14F-4D97-AF65-F5344CB8AC3E}">
        <p14:creationId xmlns:p14="http://schemas.microsoft.com/office/powerpoint/2010/main" val="3174467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63153-9633-07A5-15E8-36733F5F9A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42F2A3-DDF2-2372-F530-9A656B622AAF}"/>
              </a:ext>
            </a:extLst>
          </p:cNvPr>
          <p:cNvSpPr>
            <a:spLocks noGrp="1"/>
          </p:cNvSpPr>
          <p:nvPr>
            <p:ph type="ctrTitle"/>
          </p:nvPr>
        </p:nvSpPr>
        <p:spPr/>
        <p:txBody>
          <a:bodyPr/>
          <a:lstStyle/>
          <a:p>
            <a:r>
              <a:rPr lang="en-US" dirty="0"/>
              <a:t>Demo</a:t>
            </a:r>
          </a:p>
        </p:txBody>
      </p:sp>
      <p:sp>
        <p:nvSpPr>
          <p:cNvPr id="5" name="Subtitle 4">
            <a:extLst>
              <a:ext uri="{FF2B5EF4-FFF2-40B4-BE49-F238E27FC236}">
                <a16:creationId xmlns:a16="http://schemas.microsoft.com/office/drawing/2014/main" id="{A5DBA02F-7C64-33AD-B397-F695B1F52FE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3072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DDB28-B859-7EE0-8147-A065102772CE}"/>
              </a:ext>
            </a:extLst>
          </p:cNvPr>
          <p:cNvSpPr>
            <a:spLocks noGrp="1"/>
          </p:cNvSpPr>
          <p:nvPr>
            <p:ph type="title"/>
          </p:nvPr>
        </p:nvSpPr>
        <p:spPr>
          <a:xfrm>
            <a:off x="635000" y="640823"/>
            <a:ext cx="3418659" cy="5583148"/>
          </a:xfrm>
        </p:spPr>
        <p:txBody>
          <a:bodyPr anchor="ctr">
            <a:normAutofit/>
          </a:bodyPr>
          <a:lstStyle/>
          <a:p>
            <a:r>
              <a:rPr lang="en-US" sz="5400"/>
              <a:t>The power of PowerFX in your apps!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95758D9-3E9B-F7B8-8790-932AC7060478}"/>
              </a:ext>
            </a:extLst>
          </p:cNvPr>
          <p:cNvGraphicFramePr>
            <a:graphicFrameLocks noGrp="1"/>
          </p:cNvGraphicFramePr>
          <p:nvPr>
            <p:ph idx="1"/>
            <p:extLst>
              <p:ext uri="{D42A27DB-BD31-4B8C-83A1-F6EECF244321}">
                <p14:modId xmlns:p14="http://schemas.microsoft.com/office/powerpoint/2010/main" val="318330613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7157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EE3E-EE4D-07E5-EB55-F61E56B90D3A}"/>
              </a:ext>
            </a:extLst>
          </p:cNvPr>
          <p:cNvSpPr>
            <a:spLocks noGrp="1"/>
          </p:cNvSpPr>
          <p:nvPr>
            <p:ph type="title"/>
          </p:nvPr>
        </p:nvSpPr>
        <p:spPr>
          <a:xfrm>
            <a:off x="838200" y="365125"/>
            <a:ext cx="10515600" cy="1325563"/>
          </a:xfrm>
        </p:spPr>
        <p:txBody>
          <a:bodyPr>
            <a:normAutofit/>
          </a:bodyPr>
          <a:lstStyle/>
          <a:p>
            <a:r>
              <a:rPr lang="en-US" sz="5400"/>
              <a:t>Questions, Questions, Questions???</a:t>
            </a:r>
          </a:p>
        </p:txBody>
      </p:sp>
      <p:sp>
        <p:nvSpPr>
          <p:cNvPr id="3" name="Content Placeholder 2">
            <a:extLst>
              <a:ext uri="{FF2B5EF4-FFF2-40B4-BE49-F238E27FC236}">
                <a16:creationId xmlns:a16="http://schemas.microsoft.com/office/drawing/2014/main" id="{33A1B896-9F0D-736F-E7D8-94F4BE6C1423}"/>
              </a:ext>
            </a:extLst>
          </p:cNvPr>
          <p:cNvSpPr>
            <a:spLocks noGrp="1"/>
          </p:cNvSpPr>
          <p:nvPr>
            <p:ph idx="1"/>
          </p:nvPr>
        </p:nvSpPr>
        <p:spPr>
          <a:xfrm>
            <a:off x="838200" y="1929384"/>
            <a:ext cx="10515600" cy="4251960"/>
          </a:xfrm>
        </p:spPr>
        <p:txBody>
          <a:bodyPr>
            <a:normAutofit/>
          </a:bodyPr>
          <a:lstStyle/>
          <a:p>
            <a:r>
              <a:rPr lang="en-US" sz="2200" dirty="0"/>
              <a:t>Best part of sessions like this one </a:t>
            </a:r>
            <a:r>
              <a:rPr lang="en-US" sz="2200" dirty="0">
                <a:sym typeface="Wingdings" panose="05000000000000000000" pitchFamily="2" charset="2"/>
              </a:rPr>
              <a:t></a:t>
            </a:r>
          </a:p>
          <a:p>
            <a:r>
              <a:rPr lang="en-US" sz="2200" dirty="0">
                <a:sym typeface="Wingdings" panose="05000000000000000000" pitchFamily="2" charset="2"/>
              </a:rPr>
              <a:t>Feedback:</a:t>
            </a:r>
          </a:p>
          <a:p>
            <a:pPr marL="0" indent="0">
              <a:buNone/>
            </a:pPr>
            <a:endParaRPr lang="en-US" sz="2200" dirty="0">
              <a:sym typeface="Wingdings" panose="05000000000000000000" pitchFamily="2" charset="2"/>
            </a:endParaRPr>
          </a:p>
          <a:p>
            <a:pPr marL="0" indent="0">
              <a:buNone/>
            </a:pPr>
            <a:endParaRPr lang="en-US" sz="2200" dirty="0"/>
          </a:p>
        </p:txBody>
      </p:sp>
      <p:pic>
        <p:nvPicPr>
          <p:cNvPr id="5" name="Picture 4">
            <a:extLst>
              <a:ext uri="{FF2B5EF4-FFF2-40B4-BE49-F238E27FC236}">
                <a16:creationId xmlns:a16="http://schemas.microsoft.com/office/drawing/2014/main" id="{D2ADC734-DAC4-1697-38F8-97E3F531D4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7300" y="2790825"/>
            <a:ext cx="2209800" cy="2209800"/>
          </a:xfrm>
          <a:prstGeom prst="rect">
            <a:avLst/>
          </a:prstGeom>
        </p:spPr>
      </p:pic>
    </p:spTree>
    <p:extLst>
      <p:ext uri="{BB962C8B-B14F-4D97-AF65-F5344CB8AC3E}">
        <p14:creationId xmlns:p14="http://schemas.microsoft.com/office/powerpoint/2010/main" val="462932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2A516-15EE-121A-3022-38D15187E382}"/>
              </a:ext>
            </a:extLst>
          </p:cNvPr>
          <p:cNvSpPr>
            <a:spLocks noGrp="1"/>
          </p:cNvSpPr>
          <p:nvPr>
            <p:ph type="title"/>
          </p:nvPr>
        </p:nvSpPr>
        <p:spPr>
          <a:xfrm>
            <a:off x="2066544" y="1911096"/>
            <a:ext cx="8055864" cy="2076651"/>
          </a:xfrm>
        </p:spPr>
        <p:txBody>
          <a:bodyPr vert="horz" lIns="91440" tIns="45720" rIns="91440" bIns="45720" rtlCol="0" anchor="b">
            <a:normAutofit/>
          </a:bodyPr>
          <a:lstStyle/>
          <a:p>
            <a:pPr algn="ctr"/>
            <a:r>
              <a:rPr lang="en-US" sz="6600" kern="1200">
                <a:solidFill>
                  <a:srgbClr val="FFFFFF"/>
                </a:solidFill>
                <a:latin typeface="+mj-lt"/>
                <a:ea typeface="+mj-ea"/>
                <a:cs typeface="+mj-cs"/>
              </a:rPr>
              <a:t>Thank you! Win something at the raffle!</a:t>
            </a:r>
          </a:p>
        </p:txBody>
      </p:sp>
      <p:pic>
        <p:nvPicPr>
          <p:cNvPr id="4" name="Picture 3">
            <a:extLst>
              <a:ext uri="{FF2B5EF4-FFF2-40B4-BE49-F238E27FC236}">
                <a16:creationId xmlns:a16="http://schemas.microsoft.com/office/drawing/2014/main" id="{EDF94011-DA43-88DA-9A42-4EF12162BD6D}"/>
              </a:ext>
            </a:extLst>
          </p:cNvPr>
          <p:cNvPicPr>
            <a:picLocks noChangeAspect="1"/>
          </p:cNvPicPr>
          <p:nvPr/>
        </p:nvPicPr>
        <p:blipFill>
          <a:blip r:embed="rId3"/>
          <a:stretch>
            <a:fillRect/>
          </a:stretch>
        </p:blipFill>
        <p:spPr>
          <a:xfrm>
            <a:off x="257175" y="144661"/>
            <a:ext cx="11934825" cy="6713340"/>
          </a:xfrm>
          <a:prstGeom prst="rect">
            <a:avLst/>
          </a:prstGeom>
        </p:spPr>
      </p:pic>
    </p:spTree>
    <p:extLst>
      <p:ext uri="{BB962C8B-B14F-4D97-AF65-F5344CB8AC3E}">
        <p14:creationId xmlns:p14="http://schemas.microsoft.com/office/powerpoint/2010/main" val="3052380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3559</Words>
  <Application>Microsoft Office PowerPoint</Application>
  <PresentationFormat>Widescreen</PresentationFormat>
  <Paragraphs>215</Paragraphs>
  <Slides>22</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Wingdings</vt:lpstr>
      <vt:lpstr>Office Theme</vt:lpstr>
      <vt:lpstr>Embed PowerFX in your .NET Apps!</vt:lpstr>
      <vt:lpstr>Intro</vt:lpstr>
      <vt:lpstr>Embed PowerFX in your .NET Apps!</vt:lpstr>
      <vt:lpstr>Today’s Talk</vt:lpstr>
      <vt:lpstr>Once upon a time in Pizzas’R’Us™…</vt:lpstr>
      <vt:lpstr>Problem scenario</vt:lpstr>
      <vt:lpstr>Business Logic vs Other logic</vt:lpstr>
      <vt:lpstr>Solution Research</vt:lpstr>
      <vt:lpstr>Solution Space</vt:lpstr>
      <vt:lpstr>Intro to PowerFX</vt:lpstr>
      <vt:lpstr>PowerFx</vt:lpstr>
      <vt:lpstr>Demo</vt:lpstr>
      <vt:lpstr>Why we should consider using PowerFX from our .NET apps</vt:lpstr>
      <vt:lpstr>Demo</vt:lpstr>
      <vt:lpstr>How to run the PowerFX interpreter from .NET</vt:lpstr>
      <vt:lpstr>How to run the PowerFX interpreter from .NET</vt:lpstr>
      <vt:lpstr>Demo</vt:lpstr>
      <vt:lpstr>Custom Functions</vt:lpstr>
      <vt:lpstr>Demo</vt:lpstr>
      <vt:lpstr>The power of PowerFX in your apps!</vt:lpstr>
      <vt:lpstr>Questions, Questions, Questions???</vt:lpstr>
      <vt:lpstr>Thank you! Win something at the raffle!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Pablo Tarquino</dc:creator>
  <cp:lastModifiedBy>Juan Pablo Tarquino</cp:lastModifiedBy>
  <cp:revision>113</cp:revision>
  <dcterms:created xsi:type="dcterms:W3CDTF">2025-10-06T20:39:37Z</dcterms:created>
  <dcterms:modified xsi:type="dcterms:W3CDTF">2026-04-10T21:04:43Z</dcterms:modified>
</cp:coreProperties>
</file>